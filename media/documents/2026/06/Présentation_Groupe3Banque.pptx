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sldIdLst>
    <p:sldId id="256" r:id="rId2"/>
    <p:sldId id="269" r:id="rId3"/>
    <p:sldId id="268" r:id="rId4"/>
    <p:sldId id="270" r:id="rId5"/>
    <p:sldId id="257" r:id="rId6"/>
    <p:sldId id="258" r:id="rId7"/>
    <p:sldId id="259" r:id="rId8"/>
    <p:sldId id="260" r:id="rId9"/>
    <p:sldId id="261" r:id="rId10"/>
    <p:sldId id="262" r:id="rId11"/>
    <p:sldId id="263" r:id="rId12"/>
    <p:sldId id="264" r:id="rId13"/>
    <p:sldId id="265" r:id="rId14"/>
    <p:sldId id="266"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3981" autoAdjust="0"/>
  </p:normalViewPr>
  <p:slideViewPr>
    <p:cSldViewPr snapToGrid="0" snapToObjects="1">
      <p:cViewPr varScale="1">
        <p:scale>
          <a:sx n="74" d="100"/>
          <a:sy n="74" d="100"/>
        </p:scale>
        <p:origin x="1060" y="248"/>
      </p:cViewPr>
      <p:guideLst>
        <p:guide orient="horz" pos="2160"/>
        <p:guide pos="2880"/>
      </p:guideLst>
    </p:cSldViewPr>
  </p:slideViewPr>
  <p:outlineViewPr>
    <p:cViewPr>
      <p:scale>
        <a:sx n="33" d="100"/>
        <a:sy n="33" d="100"/>
      </p:scale>
      <p:origin x="0" y="-450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fr-FR" smtClean="0"/>
              <a:t>Modifiez le style du titre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792135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006352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5BCAD085-E8A6-8845-BD4E-CB4CCA059FC4}"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646050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394454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74346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6/19/2025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507768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6/19/2025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561056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fr-FR" smtClean="0"/>
              <a:t>Modifiez le style du titre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7" name="Date Placeholder 4"/>
          <p:cNvSpPr>
            <a:spLocks noGrp="1"/>
          </p:cNvSpPr>
          <p:nvPr>
            <p:ph type="dt" sz="half" idx="10"/>
          </p:nvPr>
        </p:nvSpPr>
        <p:spPr/>
        <p:txBody>
          <a:bodyPr/>
          <a:lstStyle/>
          <a:p>
            <a:fld id="{5BCAD085-E8A6-8845-BD4E-CB4CCA059FC4}" type="datetimeFigureOut">
              <a:rPr lang="en-US" smtClean="0"/>
              <a:t>6/19/2025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94362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5BCAD085-E8A6-8845-BD4E-CB4CCA059FC4}"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109780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5BCAD085-E8A6-8845-BD4E-CB4CCA059FC4}"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32004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fr-FR" smtClean="0"/>
              <a:t>Modifiez le style du titre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5BCAD085-E8A6-8845-BD4E-CB4CCA059FC4}"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92513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fr-FR" smtClean="0"/>
              <a:t>Modifiez le style du titre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fr-FR" smtClean="0"/>
              <a:t>Modifier les styles du texte du masque</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5BCAD085-E8A6-8845-BD4E-CB4CCA059FC4}"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311472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5BCAD085-E8A6-8845-BD4E-CB4CCA059FC4}"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853947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smtClean="0"/>
              <a:t>Modifiez le style du titre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6/19/2025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41030207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smtClean="0"/>
              <a:t>Modifiez le style du titre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6/19/2025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144278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nchorCtr="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1951244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fr-FR" smtClean="0"/>
              <a:t>Modifiez le style du titre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575606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fr-FR" smtClean="0"/>
              <a:t>Modifiez le style du titre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6/19/2025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585645076"/>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 de texte 5"/>
          <p:cNvSpPr txBox="1"/>
          <p:nvPr/>
        </p:nvSpPr>
        <p:spPr>
          <a:xfrm>
            <a:off x="1938972" y="587086"/>
            <a:ext cx="5266055" cy="46291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2200" dirty="0">
                <a:effectLst/>
                <a:latin typeface="Arial Black" panose="020B0A04020102020204" pitchFamily="34" charset="0"/>
                <a:ea typeface="Calibri" panose="020F0502020204030204" pitchFamily="34" charset="0"/>
                <a:cs typeface="Times New Roman" panose="02020603050405020304" pitchFamily="18" charset="0"/>
              </a:rPr>
              <a:t>REPUBLIQUE DE GUINEE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693174" y="1302618"/>
            <a:ext cx="7482520" cy="646331"/>
          </a:xfrm>
          <a:prstGeom prst="rect">
            <a:avLst/>
          </a:prstGeom>
        </p:spPr>
        <p:txBody>
          <a:bodyPr wrap="square">
            <a:spAutoFit/>
          </a:bodyPr>
          <a:lstStyle/>
          <a:p>
            <a:r>
              <a:rPr lang="fr-FR" dirty="0"/>
              <a:t>Ministère de l’enseignement supérieur, de la recherche </a:t>
            </a:r>
            <a:r>
              <a:rPr lang="fr-FR" dirty="0" smtClean="0"/>
              <a:t>        				scientifique </a:t>
            </a:r>
            <a:r>
              <a:rPr lang="fr-FR" dirty="0"/>
              <a:t>et de l’innovation</a:t>
            </a:r>
            <a:endParaRPr lang="en-US" dirty="0"/>
          </a:p>
        </p:txBody>
      </p:sp>
      <p:pic>
        <p:nvPicPr>
          <p:cNvPr id="10" name="Image 9"/>
          <p:cNvPicPr/>
          <p:nvPr/>
        </p:nvPicPr>
        <p:blipFill>
          <a:blip r:embed="rId2">
            <a:extLst>
              <a:ext uri="{28A0092B-C50C-407E-A947-70E740481C1C}">
                <a14:useLocalDpi xmlns:a14="http://schemas.microsoft.com/office/drawing/2010/main" val="0"/>
              </a:ext>
            </a:extLst>
          </a:blip>
          <a:stretch>
            <a:fillRect/>
          </a:stretch>
        </p:blipFill>
        <p:spPr>
          <a:xfrm>
            <a:off x="205580" y="2128423"/>
            <a:ext cx="2037080" cy="1057232"/>
          </a:xfrm>
          <a:prstGeom prst="rect">
            <a:avLst/>
          </a:prstGeom>
        </p:spPr>
      </p:pic>
      <p:pic>
        <p:nvPicPr>
          <p:cNvPr id="11" name="Image 10"/>
          <p:cNvPicPr/>
          <p:nvPr/>
        </p:nvPicPr>
        <p:blipFill>
          <a:blip r:embed="rId3" cstate="print">
            <a:extLst>
              <a:ext uri="{28A0092B-C50C-407E-A947-70E740481C1C}">
                <a14:useLocalDpi xmlns:a14="http://schemas.microsoft.com/office/drawing/2010/main" val="0"/>
              </a:ext>
            </a:extLst>
          </a:blip>
          <a:stretch>
            <a:fillRect/>
          </a:stretch>
        </p:blipFill>
        <p:spPr>
          <a:xfrm>
            <a:off x="6548772" y="1975458"/>
            <a:ext cx="2388235" cy="1137285"/>
          </a:xfrm>
          <a:prstGeom prst="rect">
            <a:avLst/>
          </a:prstGeom>
        </p:spPr>
      </p:pic>
      <p:sp>
        <p:nvSpPr>
          <p:cNvPr id="14" name="Rectangle 13"/>
          <p:cNvSpPr/>
          <p:nvPr/>
        </p:nvSpPr>
        <p:spPr>
          <a:xfrm>
            <a:off x="176991" y="4174871"/>
            <a:ext cx="8008374" cy="816827"/>
          </a:xfrm>
          <a:prstGeom prst="rect">
            <a:avLst/>
          </a:prstGeom>
        </p:spPr>
        <p:txBody>
          <a:bodyPr wrap="square">
            <a:spAutoFit/>
          </a:bodyPr>
          <a:lstStyle/>
          <a:p>
            <a:pPr>
              <a:lnSpc>
                <a:spcPct val="107000"/>
              </a:lnSpc>
              <a:spcAft>
                <a:spcPts val="800"/>
              </a:spcAft>
            </a:pPr>
            <a:r>
              <a:rPr lang="fr-FR" sz="2600" b="1" u="sng" dirty="0">
                <a:solidFill>
                  <a:srgbClr val="00B0F0"/>
                </a:solidFill>
                <a:latin typeface="Agency FB" panose="020B0503020202020204" pitchFamily="34" charset="0"/>
                <a:ea typeface="Calibri" panose="020F0502020204030204" pitchFamily="34" charset="0"/>
                <a:cs typeface="Times New Roman" panose="02020603050405020304" pitchFamily="18" charset="0"/>
              </a:rPr>
              <a:t>DEPARTEMENT</a:t>
            </a:r>
            <a:r>
              <a:rPr lang="fr-FR" sz="2600" b="1" dirty="0">
                <a:latin typeface="Times New Roman" panose="02020603050405020304" pitchFamily="18" charset="0"/>
                <a:ea typeface="Calibri" panose="020F0502020204030204" pitchFamily="34" charset="0"/>
                <a:cs typeface="Times New Roman" panose="02020603050405020304" pitchFamily="18" charset="0"/>
              </a:rPr>
              <a:t> :</a:t>
            </a:r>
            <a:r>
              <a:rPr lang="fr-FR" sz="1400" dirty="0">
                <a:latin typeface="Times New Roman" panose="02020603050405020304" pitchFamily="18" charset="0"/>
                <a:ea typeface="Calibri" panose="020F0502020204030204" pitchFamily="34" charset="0"/>
                <a:cs typeface="Times New Roman" panose="02020603050405020304" pitchFamily="18" charset="0"/>
              </a:rPr>
              <a:t> </a:t>
            </a:r>
            <a:r>
              <a:rPr lang="fr-FR" b="1" dirty="0">
                <a:latin typeface="Times New Roman" panose="02020603050405020304" pitchFamily="18" charset="0"/>
                <a:ea typeface="Calibri" panose="020F0502020204030204" pitchFamily="34" charset="0"/>
                <a:cs typeface="Times New Roman" panose="02020603050405020304" pitchFamily="18" charset="0"/>
              </a:rPr>
              <a:t>NTIC</a:t>
            </a:r>
            <a:r>
              <a:rPr lang="fr-FR" dirty="0">
                <a:latin typeface="Times New Roman" panose="02020603050405020304" pitchFamily="18" charset="0"/>
                <a:ea typeface="Calibri" panose="020F0502020204030204" pitchFamily="34" charset="0"/>
                <a:cs typeface="Times New Roman" panose="02020603050405020304" pitchFamily="18" charset="0"/>
              </a:rPr>
              <a:t> (NOUVELLES </a:t>
            </a:r>
            <a:r>
              <a:rPr lang="fr-FR" dirty="0" smtClean="0">
                <a:latin typeface="Times New Roman" panose="02020603050405020304" pitchFamily="18" charset="0"/>
                <a:ea typeface="Calibri" panose="020F0502020204030204" pitchFamily="34" charset="0"/>
                <a:cs typeface="Times New Roman" panose="02020603050405020304" pitchFamily="18" charset="0"/>
              </a:rPr>
              <a:t>TECHNOLOGIES </a:t>
            </a:r>
            <a:r>
              <a:rPr lang="fr-FR" dirty="0">
                <a:latin typeface="Times New Roman" panose="02020603050405020304" pitchFamily="18" charset="0"/>
                <a:ea typeface="Calibri" panose="020F0502020204030204" pitchFamily="34" charset="0"/>
                <a:cs typeface="Times New Roman" panose="02020603050405020304" pitchFamily="18" charset="0"/>
              </a:rPr>
              <a:t>DE L’INFORMATION ET DE LA COMMUNICATION)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14"/>
          <p:cNvSpPr/>
          <p:nvPr/>
        </p:nvSpPr>
        <p:spPr>
          <a:xfrm>
            <a:off x="162224" y="4958671"/>
            <a:ext cx="2742994" cy="553357"/>
          </a:xfrm>
          <a:prstGeom prst="rect">
            <a:avLst/>
          </a:prstGeom>
        </p:spPr>
        <p:txBody>
          <a:bodyPr wrap="square">
            <a:spAutoFit/>
          </a:bodyPr>
          <a:lstStyle/>
          <a:p>
            <a:pPr>
              <a:lnSpc>
                <a:spcPct val="107000"/>
              </a:lnSpc>
              <a:spcAft>
                <a:spcPts val="800"/>
              </a:spcAft>
            </a:pPr>
            <a:r>
              <a:rPr lang="fr-FR" sz="2800" b="1" u="sng" dirty="0">
                <a:solidFill>
                  <a:srgbClr val="00B0F0"/>
                </a:solidFill>
                <a:latin typeface="Agency FB" panose="020B0503020202020204" pitchFamily="34" charset="0"/>
                <a:ea typeface="Calibri" panose="020F0502020204030204" pitchFamily="34" charset="0"/>
                <a:cs typeface="Times New Roman" panose="02020603050405020304" pitchFamily="18" charset="0"/>
              </a:rPr>
              <a:t>NIVEAU</a:t>
            </a:r>
            <a:r>
              <a:rPr lang="fr-FR" sz="2800" b="1" u="sng" dirty="0">
                <a:latin typeface="Times New Roman" panose="02020603050405020304" pitchFamily="18" charset="0"/>
                <a:ea typeface="Calibri" panose="020F0502020204030204" pitchFamily="34" charset="0"/>
                <a:cs typeface="Times New Roman" panose="02020603050405020304" pitchFamily="18" charset="0"/>
              </a:rPr>
              <a:t> :</a:t>
            </a:r>
            <a:r>
              <a:rPr lang="fr-FR" dirty="0">
                <a:latin typeface="Times New Roman" panose="02020603050405020304" pitchFamily="18" charset="0"/>
                <a:ea typeface="Calibri" panose="020F0502020204030204" pitchFamily="34" charset="0"/>
                <a:cs typeface="Times New Roman" panose="02020603050405020304" pitchFamily="18" charset="0"/>
              </a:rPr>
              <a:t> </a:t>
            </a:r>
            <a:r>
              <a:rPr lang="fr-FR" dirty="0">
                <a:latin typeface="Baskerville Old Face" panose="02020602080505020303" pitchFamily="18" charset="0"/>
                <a:ea typeface="Calibri" panose="020F0502020204030204" pitchFamily="34" charset="0"/>
                <a:cs typeface="Times New Roman" panose="02020603050405020304" pitchFamily="18" charset="0"/>
              </a:rPr>
              <a:t>LICENCE 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Rectangle 15"/>
          <p:cNvSpPr/>
          <p:nvPr/>
        </p:nvSpPr>
        <p:spPr>
          <a:xfrm>
            <a:off x="162244" y="3521040"/>
            <a:ext cx="3359664" cy="553357"/>
          </a:xfrm>
          <a:prstGeom prst="rect">
            <a:avLst/>
          </a:prstGeom>
        </p:spPr>
        <p:txBody>
          <a:bodyPr wrap="square">
            <a:spAutoFit/>
          </a:bodyPr>
          <a:lstStyle/>
          <a:p>
            <a:pPr>
              <a:lnSpc>
                <a:spcPct val="107000"/>
              </a:lnSpc>
              <a:spcAft>
                <a:spcPts val="800"/>
              </a:spcAft>
            </a:pPr>
            <a:r>
              <a:rPr lang="fr-FR" sz="2800" b="1" u="sng" dirty="0">
                <a:solidFill>
                  <a:srgbClr val="00B0F0"/>
                </a:solidFill>
                <a:latin typeface="Agency FB" panose="020B0503020202020204" pitchFamily="34" charset="0"/>
                <a:ea typeface="Calibri" panose="020F0502020204030204" pitchFamily="34" charset="0"/>
                <a:cs typeface="Times New Roman" panose="02020603050405020304" pitchFamily="18" charset="0"/>
              </a:rPr>
              <a:t>faculté</a:t>
            </a:r>
            <a:r>
              <a:rPr lang="fr-FR" sz="2800" b="1" u="sng" dirty="0">
                <a:solidFill>
                  <a:srgbClr val="00B0F0"/>
                </a:solidFill>
                <a:latin typeface="Times New Roman" panose="02020603050405020304" pitchFamily="18" charset="0"/>
                <a:ea typeface="Calibri" panose="020F0502020204030204" pitchFamily="34" charset="0"/>
                <a:cs typeface="Times New Roman" panose="02020603050405020304" pitchFamily="18" charset="0"/>
              </a:rPr>
              <a:t> </a:t>
            </a:r>
            <a:r>
              <a:rPr lang="fr-FR" sz="2800" b="1" u="sng" dirty="0">
                <a:latin typeface="Times New Roman" panose="02020603050405020304" pitchFamily="18" charset="0"/>
                <a:ea typeface="Calibri" panose="020F0502020204030204" pitchFamily="34" charset="0"/>
                <a:cs typeface="Times New Roman" panose="02020603050405020304" pitchFamily="18" charset="0"/>
              </a:rPr>
              <a:t>:</a:t>
            </a:r>
            <a:r>
              <a:rPr lang="fr-FR" dirty="0">
                <a:latin typeface="Times New Roman" panose="02020603050405020304" pitchFamily="18" charset="0"/>
                <a:ea typeface="Calibri" panose="020F0502020204030204" pitchFamily="34" charset="0"/>
                <a:cs typeface="Times New Roman" panose="02020603050405020304" pitchFamily="18" charset="0"/>
              </a:rPr>
              <a:t> </a:t>
            </a:r>
            <a:r>
              <a:rPr lang="fr-FR" dirty="0">
                <a:latin typeface="Baskerville Old Face" panose="02020602080505020303" pitchFamily="18" charset="0"/>
                <a:ea typeface="Calibri" panose="020F0502020204030204" pitchFamily="34" charset="0"/>
                <a:cs typeface="Times New Roman" panose="02020603050405020304" pitchFamily="18" charset="0"/>
              </a:rPr>
              <a:t>Centre informatique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Rectangle 16"/>
          <p:cNvSpPr/>
          <p:nvPr/>
        </p:nvSpPr>
        <p:spPr>
          <a:xfrm>
            <a:off x="162224" y="5541739"/>
            <a:ext cx="4572000" cy="1198277"/>
          </a:xfrm>
          <a:prstGeom prst="rect">
            <a:avLst/>
          </a:prstGeom>
        </p:spPr>
        <p:txBody>
          <a:bodyPr>
            <a:spAutoFit/>
          </a:bodyPr>
          <a:lstStyle/>
          <a:p>
            <a:pPr>
              <a:lnSpc>
                <a:spcPct val="107000"/>
              </a:lnSpc>
              <a:spcAft>
                <a:spcPts val="800"/>
              </a:spcAft>
            </a:pPr>
            <a:r>
              <a:rPr lang="fr-FR" sz="2400" b="1" u="sng" dirty="0">
                <a:solidFill>
                  <a:srgbClr val="00B0F0"/>
                </a:solidFill>
                <a:latin typeface="Algerian" panose="04020705040A02060702" pitchFamily="82" charset="0"/>
                <a:ea typeface="Times New Roman" panose="02020603050405020304" pitchFamily="18" charset="0"/>
                <a:cs typeface="Times New Roman" panose="02020603050405020304" pitchFamily="18" charset="0"/>
              </a:rPr>
              <a:t>Cahier des </a:t>
            </a:r>
            <a:r>
              <a:rPr lang="fr-FR" sz="2400" b="1" u="sng" dirty="0" smtClean="0">
                <a:solidFill>
                  <a:srgbClr val="00B0F0"/>
                </a:solidFill>
                <a:latin typeface="Algerian" panose="04020705040A02060702" pitchFamily="82" charset="0"/>
                <a:ea typeface="Times New Roman" panose="02020603050405020304" pitchFamily="18" charset="0"/>
                <a:cs typeface="Times New Roman" panose="02020603050405020304" pitchFamily="18" charset="0"/>
              </a:rPr>
              <a:t>Charges G3</a:t>
            </a:r>
            <a:endParaRPr lang="en-US" sz="1050"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a:p>
            <a:pPr marR="260350">
              <a:lnSpc>
                <a:spcPct val="104000"/>
              </a:lnSpc>
              <a:spcAft>
                <a:spcPts val="1895"/>
              </a:spcAft>
            </a:pPr>
            <a:r>
              <a:rPr lang="fr-FR" sz="2000" b="1" u="sng" dirty="0">
                <a:solidFill>
                  <a:srgbClr val="00B0F0"/>
                </a:solidFill>
                <a:latin typeface="Algerian" panose="04020705040A02060702" pitchFamily="82" charset="0"/>
                <a:ea typeface="Calibri" panose="020F0502020204030204" pitchFamily="34" charset="0"/>
                <a:cs typeface="Times New Roman" panose="02020603050405020304" pitchFamily="18" charset="0"/>
              </a:rPr>
              <a:t>Projet</a:t>
            </a:r>
            <a:r>
              <a:rPr lang="fr-FR" sz="2000" b="1" u="sng" dirty="0">
                <a:latin typeface="Algerian" panose="04020705040A02060702" pitchFamily="82" charset="0"/>
                <a:ea typeface="Calibri" panose="020F0502020204030204" pitchFamily="34" charset="0"/>
                <a:cs typeface="Times New Roman" panose="02020603050405020304" pitchFamily="18" charset="0"/>
              </a:rPr>
              <a:t> :</a:t>
            </a:r>
            <a:r>
              <a:rPr lang="fr-FR" sz="2000" dirty="0">
                <a:latin typeface="Times New Roman" panose="02020603050405020304" pitchFamily="18" charset="0"/>
                <a:ea typeface="Times New Roman" panose="02020603050405020304" pitchFamily="18" charset="0"/>
                <a:cs typeface="Times New Roman" panose="02020603050405020304" pitchFamily="18" charset="0"/>
              </a:rPr>
              <a:t> </a:t>
            </a:r>
            <a:r>
              <a:rPr lang="fr-FR" dirty="0">
                <a:latin typeface="Times New Roman" panose="02020603050405020304" pitchFamily="18" charset="0"/>
                <a:ea typeface="Times New Roman" panose="02020603050405020304" pitchFamily="18" charset="0"/>
                <a:cs typeface="Times New Roman" panose="02020603050405020304" pitchFamily="18" charset="0"/>
              </a:rPr>
              <a:t>Application de Gestion d’Agence Bancaire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Rectangle 17"/>
          <p:cNvSpPr/>
          <p:nvPr/>
        </p:nvSpPr>
        <p:spPr>
          <a:xfrm>
            <a:off x="2242660" y="955330"/>
            <a:ext cx="3199915" cy="388696"/>
          </a:xfrm>
          <a:prstGeom prst="rect">
            <a:avLst/>
          </a:prstGeom>
        </p:spPr>
        <p:txBody>
          <a:bodyPr wrap="none">
            <a:spAutoFit/>
          </a:bodyPr>
          <a:lstStyle/>
          <a:p>
            <a:pPr>
              <a:lnSpc>
                <a:spcPct val="107000"/>
              </a:lnSpc>
              <a:spcAft>
                <a:spcPts val="800"/>
              </a:spcAft>
            </a:pPr>
            <a:r>
              <a:rPr lang="en-US" dirty="0">
                <a:solidFill>
                  <a:srgbClr val="FF0000"/>
                </a:solidFill>
                <a:latin typeface="Nirmala UI Semilight" panose="020B0402040204020203" pitchFamily="34" charset="0"/>
                <a:ea typeface="Calibri" panose="020F0502020204030204" pitchFamily="34" charset="0"/>
                <a:cs typeface="Times New Roman" panose="02020603050405020304" pitchFamily="18" charset="0"/>
              </a:rPr>
              <a:t>TRAVAIL</a:t>
            </a:r>
            <a:r>
              <a:rPr lang="en-US" dirty="0">
                <a:latin typeface="Nirmala UI Semilight" panose="020B0402040204020203" pitchFamily="34" charset="0"/>
                <a:ea typeface="Calibri" panose="020F0502020204030204" pitchFamily="34" charset="0"/>
                <a:cs typeface="Times New Roman" panose="02020603050405020304" pitchFamily="18" charset="0"/>
              </a:rPr>
              <a:t>-</a:t>
            </a:r>
            <a:r>
              <a:rPr lang="en-US" dirty="0">
                <a:solidFill>
                  <a:srgbClr val="FFFF00"/>
                </a:solidFill>
                <a:latin typeface="Nirmala UI Semilight" panose="020B0402040204020203" pitchFamily="34" charset="0"/>
                <a:ea typeface="Calibri" panose="020F0502020204030204" pitchFamily="34" charset="0"/>
                <a:cs typeface="Times New Roman" panose="02020603050405020304" pitchFamily="18" charset="0"/>
              </a:rPr>
              <a:t>JUSTICE</a:t>
            </a:r>
            <a:r>
              <a:rPr lang="en-US" dirty="0">
                <a:latin typeface="Nirmala UI Semilight" panose="020B0402040204020203" pitchFamily="34" charset="0"/>
                <a:ea typeface="Calibri" panose="020F0502020204030204" pitchFamily="34" charset="0"/>
                <a:cs typeface="Times New Roman" panose="02020603050405020304" pitchFamily="18" charset="0"/>
              </a:rPr>
              <a:t>-</a:t>
            </a:r>
            <a:r>
              <a:rPr lang="en-US" dirty="0">
                <a:solidFill>
                  <a:srgbClr val="00B050"/>
                </a:solidFill>
                <a:latin typeface="Nirmala UI Semilight" panose="020B0402040204020203" pitchFamily="34" charset="0"/>
                <a:ea typeface="Calibri" panose="020F0502020204030204" pitchFamily="34" charset="0"/>
                <a:cs typeface="Times New Roman" panose="02020603050405020304" pitchFamily="18" charset="0"/>
              </a:rPr>
              <a:t>SOLIDARITE</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0" y="582965"/>
            <a:ext cx="4572000" cy="5692071"/>
          </a:xfrm>
          <a:prstGeom prst="rect">
            <a:avLst/>
          </a:prstGeom>
        </p:spPr>
        <p:txBody>
          <a:bodyPr>
            <a:spAutoFit/>
          </a:bodyPr>
          <a:lstStyle/>
          <a:p>
            <a:pPr marR="260350" algn="ctr">
              <a:lnSpc>
                <a:spcPct val="104000"/>
              </a:lnSpc>
              <a:spcAft>
                <a:spcPts val="0"/>
              </a:spcAft>
            </a:pPr>
            <a:r>
              <a:rPr lang="fr-FR" sz="2800" b="1" u="sng" dirty="0">
                <a:solidFill>
                  <a:srgbClr val="00B0F0"/>
                </a:solidFill>
                <a:latin typeface="Agency FB" panose="020B0503020202020204" pitchFamily="34" charset="0"/>
                <a:ea typeface="Times New Roman" panose="02020603050405020304" pitchFamily="18" charset="0"/>
                <a:cs typeface="Times New Roman" panose="02020603050405020304" pitchFamily="18" charset="0"/>
              </a:rPr>
              <a:t>SOMMAIRES</a:t>
            </a:r>
            <a:endParaRPr lang="en-US" sz="1200"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a:p>
            <a:pPr marL="342900" marR="260350" lvl="0" indent="-342900">
              <a:lnSpc>
                <a:spcPct val="104000"/>
              </a:lnSpc>
              <a:spcAft>
                <a:spcPts val="0"/>
              </a:spcAft>
              <a:buFont typeface="+mj-lt"/>
              <a:buAutoNum type="arabicPeriod"/>
            </a:pPr>
            <a:r>
              <a:rPr lang="fr-FR" dirty="0">
                <a:latin typeface="Agency FB" panose="020B0503020202020204" pitchFamily="34" charset="0"/>
                <a:ea typeface="Times New Roman" panose="02020603050405020304" pitchFamily="18" charset="0"/>
                <a:cs typeface="Times New Roman" panose="02020603050405020304" pitchFamily="18" charset="0"/>
              </a:rPr>
              <a:t>PRESENTATION DU PROJET</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342900" marR="260350" lvl="0" indent="-342900">
              <a:lnSpc>
                <a:spcPct val="104000"/>
              </a:lnSpc>
              <a:spcAft>
                <a:spcPts val="1895"/>
              </a:spcAft>
              <a:buFont typeface="+mj-lt"/>
              <a:buAutoNum type="arabicPeriod"/>
            </a:pPr>
            <a:r>
              <a:rPr lang="fr-FR" dirty="0">
                <a:latin typeface="Agency FB" panose="020B0503020202020204" pitchFamily="34" charset="0"/>
                <a:ea typeface="Times New Roman" panose="02020603050405020304" pitchFamily="18" charset="0"/>
                <a:cs typeface="Times New Roman" panose="02020603050405020304" pitchFamily="18" charset="0"/>
              </a:rPr>
              <a:t>OBJECTIFS</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342900" marR="260350" lvl="0" indent="-342900">
              <a:lnSpc>
                <a:spcPct val="104000"/>
              </a:lnSpc>
              <a:spcAft>
                <a:spcPts val="1895"/>
              </a:spcAft>
              <a:buFont typeface="+mj-lt"/>
              <a:buAutoNum type="arabicPeriod"/>
            </a:pPr>
            <a:r>
              <a:rPr lang="fr-FR" dirty="0">
                <a:latin typeface="Agency FB" panose="020B0503020202020204" pitchFamily="34" charset="0"/>
                <a:ea typeface="Times New Roman" panose="02020603050405020304" pitchFamily="18" charset="0"/>
                <a:cs typeface="Times New Roman" panose="02020603050405020304" pitchFamily="18" charset="0"/>
              </a:rPr>
              <a:t>CONTEXTE</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342900" marR="260350" lvl="0" indent="-342900">
              <a:lnSpc>
                <a:spcPct val="104000"/>
              </a:lnSpc>
              <a:spcAft>
                <a:spcPts val="1895"/>
              </a:spcAft>
              <a:buFont typeface="+mj-lt"/>
              <a:buAutoNum type="arabicPeriod"/>
            </a:pPr>
            <a:r>
              <a:rPr lang="fr-FR" dirty="0">
                <a:latin typeface="Agency FB" panose="020B0503020202020204" pitchFamily="34" charset="0"/>
                <a:ea typeface="Times New Roman" panose="02020603050405020304" pitchFamily="18" charset="0"/>
                <a:cs typeface="Times New Roman" panose="02020603050405020304" pitchFamily="18" charset="0"/>
              </a:rPr>
              <a:t>FONCTIONNALITES</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342900" marR="260350" lvl="0" indent="-342900">
              <a:lnSpc>
                <a:spcPct val="104000"/>
              </a:lnSpc>
              <a:spcAft>
                <a:spcPts val="1895"/>
              </a:spcAft>
              <a:buSzPts val="1600"/>
              <a:buFont typeface="Symbol" panose="05050102010706020507" pitchFamily="18" charset="2"/>
              <a:buChar char=""/>
            </a:pPr>
            <a:r>
              <a:rPr lang="fr-FR" dirty="0">
                <a:latin typeface="Agency FB" panose="020B0503020202020204" pitchFamily="34" charset="0"/>
                <a:ea typeface="Calibri" panose="020F0502020204030204" pitchFamily="34" charset="0"/>
                <a:cs typeface="Times New Roman" panose="02020603050405020304" pitchFamily="18" charset="0"/>
              </a:rPr>
              <a:t>Exigences </a:t>
            </a:r>
            <a:r>
              <a:rPr lang="en-US" dirty="0">
                <a:latin typeface="Agency FB" panose="020B0503020202020204" pitchFamily="34" charset="0"/>
                <a:ea typeface="Calibri" panose="020F0502020204030204" pitchFamily="34" charset="0"/>
                <a:cs typeface="Times New Roman" panose="02020603050405020304" pitchFamily="18" charset="0"/>
              </a:rPr>
              <a:t>Fonctionnelles</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342900" marR="260350" lvl="0" indent="-342900">
              <a:lnSpc>
                <a:spcPct val="104000"/>
              </a:lnSpc>
              <a:spcAft>
                <a:spcPts val="1895"/>
              </a:spcAft>
              <a:buSzPts val="1600"/>
              <a:buFont typeface="Symbol" panose="05050102010706020507" pitchFamily="18" charset="2"/>
              <a:buChar char=""/>
            </a:pPr>
            <a:r>
              <a:rPr lang="en-US" dirty="0">
                <a:latin typeface="Agency FB" panose="020B0503020202020204" pitchFamily="34" charset="0"/>
                <a:ea typeface="Calibri" panose="020F0502020204030204" pitchFamily="34" charset="0"/>
                <a:cs typeface="Times New Roman" panose="02020603050405020304" pitchFamily="18" charset="0"/>
              </a:rPr>
              <a:t>Exigences Non Fonctionnelles</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R="260350" lvl="0">
              <a:lnSpc>
                <a:spcPct val="104000"/>
              </a:lnSpc>
              <a:spcAft>
                <a:spcPts val="1895"/>
              </a:spcAft>
            </a:pPr>
            <a:r>
              <a:rPr lang="fr-FR" dirty="0" smtClean="0">
                <a:latin typeface="Agency FB" panose="020B0503020202020204" pitchFamily="34" charset="0"/>
                <a:ea typeface="Calibri" panose="020F0502020204030204" pitchFamily="34" charset="0"/>
                <a:cs typeface="Times New Roman" panose="02020603050405020304" pitchFamily="18" charset="0"/>
              </a:rPr>
              <a:t>5.   MODELISATION </a:t>
            </a:r>
            <a:r>
              <a:rPr lang="fr-FR" dirty="0">
                <a:latin typeface="Agency FB" panose="020B0503020202020204" pitchFamily="34" charset="0"/>
                <a:ea typeface="Calibri" panose="020F0502020204030204" pitchFamily="34" charset="0"/>
                <a:cs typeface="Times New Roman" panose="02020603050405020304" pitchFamily="18" charset="0"/>
              </a:rPr>
              <a:t>DES DONNEES (METHODOLOGIE MERISE)</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342900" marR="260350" lvl="0" indent="-342900">
              <a:lnSpc>
                <a:spcPct val="104000"/>
              </a:lnSpc>
              <a:spcAft>
                <a:spcPts val="1895"/>
              </a:spcAft>
              <a:buFont typeface="Symbol" panose="05050102010706020507" pitchFamily="18" charset="2"/>
              <a:buChar char=""/>
            </a:pPr>
            <a:r>
              <a:rPr lang="fr-FR" dirty="0">
                <a:latin typeface="Agency FB" panose="020B0503020202020204" pitchFamily="34" charset="0"/>
                <a:ea typeface="Calibri" panose="020F0502020204030204" pitchFamily="34" charset="0"/>
                <a:cs typeface="Times New Roman" panose="02020603050405020304" pitchFamily="18" charset="0"/>
              </a:rPr>
              <a:t>Modèle Conceptuel des Données (MCD) avec entités, attributs et cardinalités</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marL="342900" marR="260350" lvl="0" indent="-342900">
              <a:lnSpc>
                <a:spcPct val="104000"/>
              </a:lnSpc>
              <a:spcAft>
                <a:spcPts val="0"/>
              </a:spcAft>
              <a:buFont typeface="Symbol" panose="05050102010706020507" pitchFamily="18" charset="2"/>
              <a:buChar char=""/>
            </a:pPr>
            <a:r>
              <a:rPr lang="fr-FR" dirty="0">
                <a:latin typeface="Agency FB" panose="020B0503020202020204" pitchFamily="34" charset="0"/>
                <a:ea typeface="Calibri" panose="020F0502020204030204" pitchFamily="34" charset="0"/>
                <a:cs typeface="Times New Roman" panose="02020603050405020304" pitchFamily="18" charset="0"/>
              </a:rPr>
              <a:t>MLD (Modèle Logique de Données)</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lvl="0" algn="just">
              <a:spcAft>
                <a:spcPts val="0"/>
              </a:spcAft>
            </a:pPr>
            <a:r>
              <a:rPr lang="fr-FR" dirty="0" smtClean="0">
                <a:latin typeface="Agency FB" panose="020B0503020202020204" pitchFamily="34" charset="0"/>
                <a:ea typeface="Calibri" panose="020F0502020204030204" pitchFamily="34" charset="0"/>
                <a:cs typeface="Times New Roman" panose="02020603050405020304" pitchFamily="18" charset="0"/>
              </a:rPr>
              <a:t>6.     </a:t>
            </a:r>
            <a:r>
              <a:rPr lang="fr-FR" dirty="0">
                <a:latin typeface="Agency FB" panose="020B0503020202020204" pitchFamily="34" charset="0"/>
                <a:ea typeface="Calibri" panose="020F0502020204030204" pitchFamily="34" charset="0"/>
                <a:cs typeface="Times New Roman" panose="02020603050405020304" pitchFamily="18" charset="0"/>
              </a:rPr>
              <a:t>Architecture du projet</a:t>
            </a:r>
            <a:endParaRPr lang="en-US" sz="1100" dirty="0">
              <a:effectLst/>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671588"/>
      </p:ext>
    </p:extLst>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575187" y="1179734"/>
            <a:ext cx="8052620" cy="3841052"/>
          </a:xfrm>
          <a:prstGeom prst="rect">
            <a:avLst/>
          </a:prstGeom>
        </p:spPr>
        <p:txBody>
          <a:bodyPr wrap="square">
            <a:spAutoFit/>
          </a:bodyPr>
          <a:lstStyle/>
          <a:p>
            <a:pPr lvl="0" algn="just">
              <a:spcAft>
                <a:spcPts val="0"/>
              </a:spcAft>
            </a:pPr>
            <a:r>
              <a:rPr lang="en-US" sz="2000" dirty="0" smtClean="0">
                <a:latin typeface="Arial" panose="020B0604020202020204" pitchFamily="34" charset="0"/>
                <a:ea typeface="Calibri" panose="020F0502020204030204" pitchFamily="34" charset="0"/>
                <a:cs typeface="Arial" panose="020B0604020202020204" pitchFamily="34" charset="0"/>
              </a:rPr>
              <a:t>7.  Étapes </a:t>
            </a:r>
            <a:r>
              <a:rPr lang="en-US" sz="2000" dirty="0">
                <a:latin typeface="Arial" panose="020B0604020202020204" pitchFamily="34" charset="0"/>
                <a:ea typeface="Calibri" panose="020F0502020204030204" pitchFamily="34" charset="0"/>
                <a:cs typeface="Arial" panose="020B0604020202020204" pitchFamily="34" charset="0"/>
              </a:rPr>
              <a:t>de Conception</a:t>
            </a:r>
          </a:p>
          <a:p>
            <a:pPr marL="342900" lvl="0" indent="-342900" algn="just">
              <a:spcAft>
                <a:spcPts val="0"/>
              </a:spcAft>
              <a:buSzPts val="1600"/>
              <a:buFont typeface="Symbol" panose="05050102010706020507" pitchFamily="18" charset="2"/>
              <a:buChar char=""/>
            </a:pPr>
            <a:r>
              <a:rPr lang="fr-FR" sz="2000" dirty="0">
                <a:latin typeface="Arial" panose="020B0604020202020204" pitchFamily="34" charset="0"/>
                <a:ea typeface="Calibri" panose="020F0502020204030204" pitchFamily="34" charset="0"/>
                <a:cs typeface="Arial" panose="020B0604020202020204" pitchFamily="34" charset="0"/>
              </a:rPr>
              <a:t>Analyse des Besoins</a:t>
            </a:r>
            <a:endParaRPr lang="en-US" sz="2000" dirty="0">
              <a:latin typeface="Arial" panose="020B0604020202020204" pitchFamily="34" charset="0"/>
              <a:ea typeface="Calibri" panose="020F0502020204030204" pitchFamily="34" charset="0"/>
              <a:cs typeface="Arial" panose="020B0604020202020204" pitchFamily="34" charset="0"/>
            </a:endParaRPr>
          </a:p>
          <a:p>
            <a:pPr marL="342900" lvl="0" indent="-342900" algn="just">
              <a:spcAft>
                <a:spcPts val="0"/>
              </a:spcAft>
              <a:buSzPts val="1600"/>
              <a:buFont typeface="Symbol" panose="05050102010706020507" pitchFamily="18" charset="2"/>
              <a:buChar char=""/>
            </a:pPr>
            <a:r>
              <a:rPr lang="fr-FR" sz="2000" dirty="0">
                <a:latin typeface="Arial" panose="020B0604020202020204" pitchFamily="34" charset="0"/>
                <a:ea typeface="Calibri" panose="020F0502020204030204" pitchFamily="34" charset="0"/>
                <a:cs typeface="Arial" panose="020B0604020202020204" pitchFamily="34" charset="0"/>
              </a:rPr>
              <a:t>Conception de la Base de Données</a:t>
            </a:r>
            <a:endParaRPr lang="en-US" sz="2000" dirty="0">
              <a:latin typeface="Arial" panose="020B0604020202020204" pitchFamily="34" charset="0"/>
              <a:ea typeface="Calibri" panose="020F0502020204030204" pitchFamily="34" charset="0"/>
              <a:cs typeface="Arial" panose="020B0604020202020204" pitchFamily="34" charset="0"/>
            </a:endParaRPr>
          </a:p>
          <a:p>
            <a:pPr marL="342900" lvl="0" indent="-342900" algn="just">
              <a:spcAft>
                <a:spcPts val="0"/>
              </a:spcAft>
              <a:buFont typeface="Symbol" panose="05050102010706020507" pitchFamily="18" charset="2"/>
              <a:buChar char=""/>
            </a:pPr>
            <a:r>
              <a:rPr lang="fr-FR" sz="2000" dirty="0">
                <a:latin typeface="Arial" panose="020B0604020202020204" pitchFamily="34" charset="0"/>
                <a:ea typeface="Calibri" panose="020F0502020204030204" pitchFamily="34" charset="0"/>
                <a:cs typeface="Arial" panose="020B0604020202020204" pitchFamily="34" charset="0"/>
              </a:rPr>
              <a:t>Application Console </a:t>
            </a:r>
            <a:endParaRPr lang="en-US" sz="2000" dirty="0">
              <a:latin typeface="Arial" panose="020B0604020202020204" pitchFamily="34" charset="0"/>
              <a:ea typeface="Calibri" panose="020F0502020204030204" pitchFamily="34" charset="0"/>
              <a:cs typeface="Arial" panose="020B0604020202020204" pitchFamily="34" charset="0"/>
            </a:endParaRPr>
          </a:p>
          <a:p>
            <a:pPr marL="342900" lvl="0" indent="-342900" algn="just">
              <a:spcAft>
                <a:spcPts val="0"/>
              </a:spcAft>
              <a:buFont typeface="Symbol" panose="05050102010706020507" pitchFamily="18" charset="2"/>
              <a:buChar char=""/>
            </a:pPr>
            <a:r>
              <a:rPr lang="fr-FR" sz="2000" dirty="0">
                <a:latin typeface="Arial" panose="020B0604020202020204" pitchFamily="34" charset="0"/>
                <a:ea typeface="Calibri" panose="020F0502020204030204" pitchFamily="34" charset="0"/>
                <a:cs typeface="Arial" panose="020B0604020202020204" pitchFamily="34" charset="0"/>
              </a:rPr>
              <a:t>Interface Graphique (WinForms)</a:t>
            </a:r>
            <a:endParaRPr lang="en-US" sz="2000" dirty="0">
              <a:latin typeface="Arial" panose="020B0604020202020204" pitchFamily="34" charset="0"/>
              <a:ea typeface="Calibri" panose="020F0502020204030204" pitchFamily="34" charset="0"/>
              <a:cs typeface="Arial" panose="020B0604020202020204" pitchFamily="34" charset="0"/>
            </a:endParaRPr>
          </a:p>
          <a:p>
            <a:pPr marL="342900" lvl="0" indent="-342900" algn="just">
              <a:spcAft>
                <a:spcPts val="0"/>
              </a:spcAft>
              <a:buFont typeface="Symbol" panose="05050102010706020507" pitchFamily="18" charset="2"/>
              <a:buChar char=""/>
            </a:pPr>
            <a:r>
              <a:rPr lang="fr-FR" sz="2000" dirty="0">
                <a:latin typeface="Arial" panose="020B0604020202020204" pitchFamily="34" charset="0"/>
                <a:ea typeface="Calibri" panose="020F0502020204030204" pitchFamily="34" charset="0"/>
                <a:cs typeface="Arial" panose="020B0604020202020204" pitchFamily="34" charset="0"/>
              </a:rPr>
              <a:t>Connexion Base de données</a:t>
            </a:r>
            <a:endParaRPr lang="en-US" sz="2000" dirty="0">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spcAft>
                <a:spcPts val="0"/>
              </a:spcAft>
              <a:buFont typeface="Symbol" panose="05050102010706020507" pitchFamily="18" charset="2"/>
              <a:buChar char=""/>
              <a:tabLst>
                <a:tab pos="2484755" algn="ctr"/>
              </a:tabLst>
            </a:pPr>
            <a:r>
              <a:rPr lang="fr-FR" sz="2000" dirty="0">
                <a:latin typeface="Arial" panose="020B0604020202020204" pitchFamily="34" charset="0"/>
                <a:ea typeface="Calibri" panose="020F0502020204030204" pitchFamily="34" charset="0"/>
                <a:cs typeface="Arial" panose="020B0604020202020204" pitchFamily="34" charset="0"/>
              </a:rPr>
              <a:t>Implémentation de la Gestion des Utilisateurs</a:t>
            </a:r>
            <a:endParaRPr lang="en-US" sz="2000" dirty="0">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spcAft>
                <a:spcPts val="0"/>
              </a:spcAft>
              <a:buFont typeface="Symbol" panose="05050102010706020507" pitchFamily="18" charset="2"/>
              <a:buChar char=""/>
              <a:tabLst>
                <a:tab pos="2484755" algn="ctr"/>
              </a:tabLst>
            </a:pPr>
            <a:r>
              <a:rPr lang="fr-FR" sz="2000" dirty="0">
                <a:latin typeface="Arial" panose="020B0604020202020204" pitchFamily="34" charset="0"/>
                <a:ea typeface="Calibri" panose="020F0502020204030204" pitchFamily="34" charset="0"/>
                <a:cs typeface="Arial" panose="020B0604020202020204" pitchFamily="34" charset="0"/>
              </a:rPr>
              <a:t>Impression / Export :</a:t>
            </a:r>
            <a:endParaRPr lang="en-US" sz="2000" dirty="0">
              <a:latin typeface="Arial" panose="020B0604020202020204" pitchFamily="34" charset="0"/>
              <a:ea typeface="Calibri" panose="020F0502020204030204" pitchFamily="34" charset="0"/>
              <a:cs typeface="Arial" panose="020B0604020202020204" pitchFamily="34" charset="0"/>
            </a:endParaRPr>
          </a:p>
          <a:p>
            <a:pPr marL="342900" lvl="0" indent="-342900" algn="just">
              <a:spcAft>
                <a:spcPts val="0"/>
              </a:spcAft>
              <a:buFont typeface="Symbol" panose="05050102010706020507" pitchFamily="18" charset="2"/>
              <a:buChar char=""/>
            </a:pPr>
            <a:r>
              <a:rPr lang="fr-FR" sz="2000" dirty="0">
                <a:latin typeface="Arial" panose="020B0604020202020204" pitchFamily="34" charset="0"/>
                <a:ea typeface="Calibri" panose="020F0502020204030204" pitchFamily="34" charset="0"/>
                <a:cs typeface="Arial" panose="020B0604020202020204" pitchFamily="34" charset="0"/>
              </a:rPr>
              <a:t>Tests et Validation</a:t>
            </a:r>
            <a:endParaRPr lang="en-US" sz="2000" dirty="0">
              <a:latin typeface="Arial" panose="020B0604020202020204" pitchFamily="34" charset="0"/>
              <a:ea typeface="Calibri" panose="020F0502020204030204" pitchFamily="34" charset="0"/>
              <a:cs typeface="Arial" panose="020B0604020202020204" pitchFamily="34" charset="0"/>
            </a:endParaRPr>
          </a:p>
          <a:p>
            <a:pPr lvl="0" algn="just">
              <a:spcAft>
                <a:spcPts val="0"/>
              </a:spcAft>
            </a:pPr>
            <a:r>
              <a:rPr lang="fr-FR" sz="2000" dirty="0" smtClean="0">
                <a:latin typeface="Arial" panose="020B0604020202020204" pitchFamily="34" charset="0"/>
                <a:ea typeface="Calibri" panose="020F0502020204030204" pitchFamily="34" charset="0"/>
                <a:cs typeface="Arial" panose="020B0604020202020204" pitchFamily="34" charset="0"/>
              </a:rPr>
              <a:t>8.  </a:t>
            </a:r>
            <a:r>
              <a:rPr lang="fr-FR" sz="2000" dirty="0">
                <a:latin typeface="Arial" panose="020B0604020202020204" pitchFamily="34" charset="0"/>
                <a:ea typeface="Calibri" panose="020F0502020204030204" pitchFamily="34" charset="0"/>
                <a:cs typeface="Arial" panose="020B0604020202020204" pitchFamily="34" charset="0"/>
              </a:rPr>
              <a:t>Technologies et outils utilisés</a:t>
            </a:r>
            <a:endParaRPr lang="en-US" sz="2000" dirty="0">
              <a:latin typeface="Arial" panose="020B0604020202020204" pitchFamily="34" charset="0"/>
              <a:ea typeface="Calibri" panose="020F0502020204030204" pitchFamily="34" charset="0"/>
              <a:cs typeface="Arial" panose="020B0604020202020204" pitchFamily="34" charset="0"/>
            </a:endParaRPr>
          </a:p>
          <a:p>
            <a:pPr lvl="0" algn="just">
              <a:spcAft>
                <a:spcPts val="0"/>
              </a:spcAft>
            </a:pPr>
            <a:r>
              <a:rPr lang="en-US" sz="2000" dirty="0" smtClean="0">
                <a:latin typeface="Arial" panose="020B0604020202020204" pitchFamily="34" charset="0"/>
                <a:ea typeface="Calibri" panose="020F0502020204030204" pitchFamily="34" charset="0"/>
                <a:cs typeface="Arial" panose="020B0604020202020204" pitchFamily="34" charset="0"/>
              </a:rPr>
              <a:t>9.  Innovations </a:t>
            </a:r>
            <a:r>
              <a:rPr lang="en-US" sz="2000" dirty="0">
                <a:latin typeface="Arial" panose="020B0604020202020204" pitchFamily="34" charset="0"/>
                <a:ea typeface="Calibri" panose="020F0502020204030204" pitchFamily="34" charset="0"/>
                <a:cs typeface="Arial" panose="020B0604020202020204" pitchFamily="34" charset="0"/>
              </a:rPr>
              <a:t>Proposées</a:t>
            </a:r>
          </a:p>
          <a:p>
            <a:pPr marR="260350" lvl="0">
              <a:lnSpc>
                <a:spcPct val="104000"/>
              </a:lnSpc>
              <a:spcAft>
                <a:spcPts val="1895"/>
              </a:spcAft>
            </a:pPr>
            <a:r>
              <a:rPr lang="fr-FR" sz="2000" dirty="0" smtClean="0">
                <a:latin typeface="Arial" panose="020B0604020202020204" pitchFamily="34" charset="0"/>
                <a:ea typeface="Calibri" panose="020F0502020204030204" pitchFamily="34" charset="0"/>
                <a:cs typeface="Arial" panose="020B0604020202020204" pitchFamily="34" charset="0"/>
              </a:rPr>
              <a:t>10.Conclusion</a:t>
            </a:r>
            <a:endParaRPr lang="en-US"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882199093"/>
      </p:ext>
    </p:extLst>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60439" y="2091952"/>
            <a:ext cx="7949380" cy="2813206"/>
          </a:xfrm>
          <a:prstGeom prst="rect">
            <a:avLst/>
          </a:prstGeom>
        </p:spPr>
        <p:txBody>
          <a:bodyPr wrap="square">
            <a:spAutoFit/>
          </a:bodyPr>
          <a:lstStyle/>
          <a:p>
            <a:pPr>
              <a:spcAft>
                <a:spcPts val="0"/>
              </a:spcAft>
            </a:pPr>
            <a:r>
              <a:rPr lang="fr-FR" sz="2400" b="1" u="sng" dirty="0">
                <a:solidFill>
                  <a:srgbClr val="00B0F0"/>
                </a:solidFill>
                <a:latin typeface="Times New Roman" panose="02020603050405020304" pitchFamily="18" charset="0"/>
                <a:ea typeface="Calibri" panose="020F0502020204030204" pitchFamily="34" charset="0"/>
                <a:cs typeface="Times New Roman" panose="02020603050405020304" pitchFamily="18" charset="0"/>
              </a:rPr>
              <a:t>1. Introduction</a:t>
            </a:r>
            <a:endParaRPr lang="en-US" sz="1200" dirty="0">
              <a:solidFill>
                <a:srgbClr val="00B0F0"/>
              </a:solidFill>
              <a:latin typeface="Consolas" panose="020B0609020204030204" pitchFamily="49" charset="0"/>
              <a:ea typeface="Calibri" panose="020F0502020204030204" pitchFamily="34" charset="0"/>
              <a:cs typeface="Times New Roman" panose="02020603050405020304" pitchFamily="18" charset="0"/>
            </a:endParaRPr>
          </a:p>
          <a:p>
            <a:pPr>
              <a:spcAft>
                <a:spcPts val="0"/>
              </a:spcAft>
            </a:pPr>
            <a:r>
              <a:rPr lang="fr-FR" dirty="0">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latin typeface="Consolas" panose="020B0609020204030204" pitchFamily="49" charset="0"/>
              <a:ea typeface="Calibri" panose="020F0502020204030204" pitchFamily="34" charset="0"/>
              <a:cs typeface="Times New Roman" panose="02020603050405020304" pitchFamily="18" charset="0"/>
            </a:endParaRPr>
          </a:p>
          <a:p>
            <a:pPr marR="507365">
              <a:lnSpc>
                <a:spcPct val="107000"/>
              </a:lnSpc>
              <a:spcAft>
                <a:spcPts val="0"/>
              </a:spcAft>
            </a:pPr>
            <a:r>
              <a:rPr lang="fr-FR" dirty="0">
                <a:latin typeface="Times New Roman" panose="02020603050405020304" pitchFamily="18" charset="0"/>
                <a:ea typeface="Calibri" panose="020F0502020204030204" pitchFamily="34" charset="0"/>
                <a:cs typeface="Times New Roman" panose="02020603050405020304" pitchFamily="18" charset="0"/>
              </a:rPr>
              <a:t>Ce projet, assigné dans le cadre du cours de C#, vise à concevoir une application pour gérer une agence bancaire, ses clients, leurs comptes (épargne ou payant), et un système d’authentification utilisateur. Le projet se divise en deux parties : une application console et une application graphique avec une base de données. Ce cahier des charges décrit les exigences, les étapes de conception, les innovations proposées, et les livrables pour produire une solution de qualité supérieure.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77368385"/>
      </p:ext>
    </p:extLst>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B0F0"/>
                </a:solidFill>
              </a:rPr>
              <a:t>Objectifs du Projet</a:t>
            </a:r>
          </a:p>
        </p:txBody>
      </p:sp>
      <p:sp>
        <p:nvSpPr>
          <p:cNvPr id="3" name="Content Placeholder 2"/>
          <p:cNvSpPr>
            <a:spLocks noGrp="1"/>
          </p:cNvSpPr>
          <p:nvPr>
            <p:ph idx="1"/>
          </p:nvPr>
        </p:nvSpPr>
        <p:spPr/>
        <p:txBody>
          <a:bodyPr>
            <a:normAutofit/>
          </a:bodyPr>
          <a:lstStyle/>
          <a:p>
            <a:endParaRPr dirty="0"/>
          </a:p>
          <a:p>
            <a:r>
              <a:rPr dirty="0" err="1"/>
              <a:t>Développer</a:t>
            </a:r>
            <a:r>
              <a:rPr dirty="0"/>
              <a:t> une application de </a:t>
            </a:r>
            <a:r>
              <a:rPr dirty="0" err="1"/>
              <a:t>gestion</a:t>
            </a:r>
            <a:r>
              <a:rPr dirty="0"/>
              <a:t> </a:t>
            </a:r>
            <a:r>
              <a:rPr dirty="0" err="1"/>
              <a:t>bancaire</a:t>
            </a:r>
            <a:r>
              <a:rPr dirty="0"/>
              <a:t> </a:t>
            </a:r>
            <a:r>
              <a:rPr dirty="0" err="1"/>
              <a:t>complète</a:t>
            </a:r>
            <a:r>
              <a:rPr dirty="0"/>
              <a:t>.</a:t>
            </a:r>
          </a:p>
          <a:p>
            <a:r>
              <a:rPr dirty="0"/>
              <a:t>Application Console : respect des </a:t>
            </a:r>
            <a:r>
              <a:rPr dirty="0" err="1"/>
              <a:t>règles</a:t>
            </a:r>
            <a:r>
              <a:rPr dirty="0"/>
              <a:t> de </a:t>
            </a:r>
            <a:r>
              <a:rPr dirty="0" err="1"/>
              <a:t>gestion</a:t>
            </a:r>
            <a:r>
              <a:rPr dirty="0"/>
              <a:t>.</a:t>
            </a:r>
          </a:p>
          <a:p>
            <a:r>
              <a:rPr dirty="0"/>
              <a:t>Application Graphique : </a:t>
            </a:r>
            <a:r>
              <a:rPr dirty="0" err="1"/>
              <a:t>fonctionnalités</a:t>
            </a:r>
            <a:r>
              <a:rPr dirty="0"/>
              <a:t> </a:t>
            </a:r>
            <a:r>
              <a:rPr dirty="0" err="1"/>
              <a:t>avancées</a:t>
            </a:r>
            <a:r>
              <a:rPr dirty="0"/>
              <a:t>.</a:t>
            </a:r>
          </a:p>
          <a:p>
            <a:r>
              <a:rPr dirty="0"/>
              <a:t>Base de données robuste et authentification sécurisée.</a:t>
            </a:r>
          </a:p>
          <a:p>
            <a:r>
              <a:rPr dirty="0"/>
              <a:t>Fonctionnalités </a:t>
            </a:r>
            <a:r>
              <a:rPr dirty="0" err="1"/>
              <a:t>innovantes</a:t>
            </a:r>
            <a:r>
              <a:rPr dirty="0"/>
              <a:t> (rapports, journalisation, multilingue).</a:t>
            </a:r>
          </a:p>
        </p:txBody>
      </p:sp>
    </p:spTree>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solidFill>
                  <a:srgbClr val="00B0F0"/>
                </a:solidFill>
              </a:rPr>
              <a:t>		</a:t>
            </a:r>
            <a:r>
              <a:rPr dirty="0" smtClean="0">
                <a:solidFill>
                  <a:srgbClr val="00B0F0"/>
                </a:solidFill>
              </a:rPr>
              <a:t>Contexte</a:t>
            </a:r>
            <a:endParaRPr dirty="0">
              <a:solidFill>
                <a:srgbClr val="00B0F0"/>
              </a:solidFill>
            </a:endParaRPr>
          </a:p>
        </p:txBody>
      </p:sp>
      <p:sp>
        <p:nvSpPr>
          <p:cNvPr id="3" name="Content Placeholder 2"/>
          <p:cNvSpPr>
            <a:spLocks noGrp="1"/>
          </p:cNvSpPr>
          <p:nvPr>
            <p:ph idx="1"/>
          </p:nvPr>
        </p:nvSpPr>
        <p:spPr/>
        <p:txBody>
          <a:bodyPr/>
          <a:lstStyle/>
          <a:p>
            <a:r>
              <a:rPr dirty="0"/>
              <a:t>Développement dans le cadre du cours de C#. Le projet inclut une application console et une application Windows Forms pour gérer agences, clients et comptes.</a:t>
            </a:r>
          </a:p>
        </p:txBody>
      </p:sp>
    </p:spTree>
  </p:cSld>
  <p:clrMapOvr>
    <a:masterClrMapping/>
  </p:clrMapOvr>
  <p:transition spd="slow">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B0F0"/>
                </a:solidFill>
              </a:rPr>
              <a:t>Fonctionnalités Principales</a:t>
            </a:r>
          </a:p>
        </p:txBody>
      </p:sp>
      <p:sp>
        <p:nvSpPr>
          <p:cNvPr id="3" name="Content Placeholder 2"/>
          <p:cNvSpPr>
            <a:spLocks noGrp="1"/>
          </p:cNvSpPr>
          <p:nvPr>
            <p:ph idx="1"/>
          </p:nvPr>
        </p:nvSpPr>
        <p:spPr/>
        <p:txBody>
          <a:bodyPr/>
          <a:lstStyle/>
          <a:p>
            <a:endParaRPr dirty="0"/>
          </a:p>
          <a:p>
            <a:r>
              <a:rPr dirty="0"/>
              <a:t>Application Console : </a:t>
            </a:r>
            <a:r>
              <a:rPr dirty="0" err="1"/>
              <a:t>gestion</a:t>
            </a:r>
            <a:r>
              <a:rPr dirty="0"/>
              <a:t> </a:t>
            </a:r>
            <a:r>
              <a:rPr dirty="0" err="1"/>
              <a:t>agence</a:t>
            </a:r>
            <a:r>
              <a:rPr dirty="0"/>
              <a:t>, client, </a:t>
            </a:r>
            <a:r>
              <a:rPr dirty="0" err="1"/>
              <a:t>compte</a:t>
            </a:r>
            <a:r>
              <a:rPr dirty="0"/>
              <a:t>, </a:t>
            </a:r>
            <a:r>
              <a:rPr dirty="0" err="1"/>
              <a:t>opérations</a:t>
            </a:r>
            <a:r>
              <a:rPr dirty="0"/>
              <a:t> (</a:t>
            </a:r>
            <a:r>
              <a:rPr dirty="0" err="1"/>
              <a:t>dépôt</a:t>
            </a:r>
            <a:r>
              <a:rPr dirty="0"/>
              <a:t>, </a:t>
            </a:r>
            <a:r>
              <a:rPr dirty="0" err="1"/>
              <a:t>retrait</a:t>
            </a:r>
            <a:r>
              <a:rPr dirty="0"/>
              <a:t>, </a:t>
            </a:r>
            <a:r>
              <a:rPr dirty="0" err="1"/>
              <a:t>virement</a:t>
            </a:r>
            <a:r>
              <a:rPr dirty="0"/>
              <a:t>).</a:t>
            </a:r>
          </a:p>
          <a:p>
            <a:r>
              <a:rPr dirty="0"/>
              <a:t>Application Graphique : interface intuitive avec login, </a:t>
            </a:r>
            <a:r>
              <a:rPr dirty="0" err="1"/>
              <a:t>rôles</a:t>
            </a:r>
            <a:r>
              <a:rPr dirty="0"/>
              <a:t>, CRUD, impressions.</a:t>
            </a:r>
          </a:p>
          <a:p>
            <a:r>
              <a:rPr dirty="0"/>
              <a:t>Innovations : Historique, tableaux de bord, notifications, multilingue.</a:t>
            </a:r>
          </a:p>
        </p:txBody>
      </p:sp>
    </p:spTree>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09" y="452718"/>
            <a:ext cx="8320077" cy="1400530"/>
          </a:xfrm>
        </p:spPr>
        <p:txBody>
          <a:bodyPr/>
          <a:lstStyle/>
          <a:p>
            <a:r>
              <a:rPr dirty="0">
                <a:solidFill>
                  <a:srgbClr val="00B0F0"/>
                </a:solidFill>
              </a:rPr>
              <a:t>Exigences </a:t>
            </a:r>
            <a:r>
              <a:rPr dirty="0" smtClean="0">
                <a:solidFill>
                  <a:srgbClr val="00B0F0"/>
                </a:solidFill>
              </a:rPr>
              <a:t>Non Fonctionnelles</a:t>
            </a:r>
            <a:endParaRPr dirty="0">
              <a:solidFill>
                <a:srgbClr val="00B0F0"/>
              </a:solidFill>
            </a:endParaRPr>
          </a:p>
        </p:txBody>
      </p:sp>
      <p:sp>
        <p:nvSpPr>
          <p:cNvPr id="3" name="Content Placeholder 2"/>
          <p:cNvSpPr>
            <a:spLocks noGrp="1"/>
          </p:cNvSpPr>
          <p:nvPr>
            <p:ph idx="1"/>
          </p:nvPr>
        </p:nvSpPr>
        <p:spPr/>
        <p:txBody>
          <a:bodyPr>
            <a:normAutofit/>
          </a:bodyPr>
          <a:lstStyle/>
          <a:p>
            <a:endParaRPr dirty="0"/>
          </a:p>
          <a:p>
            <a:r>
              <a:rPr dirty="0">
                <a:solidFill>
                  <a:srgbClr val="00B0F0"/>
                </a:solidFill>
              </a:rPr>
              <a:t>Langage </a:t>
            </a:r>
            <a:r>
              <a:rPr dirty="0"/>
              <a:t>: C# .NET Core.</a:t>
            </a:r>
          </a:p>
          <a:p>
            <a:r>
              <a:rPr dirty="0">
                <a:solidFill>
                  <a:srgbClr val="00B0F0"/>
                </a:solidFill>
              </a:rPr>
              <a:t>Interface</a:t>
            </a:r>
            <a:r>
              <a:rPr dirty="0"/>
              <a:t> : Moderne, messages d'erreur clairs.</a:t>
            </a:r>
          </a:p>
          <a:p>
            <a:r>
              <a:rPr dirty="0">
                <a:solidFill>
                  <a:srgbClr val="00B0F0"/>
                </a:solidFill>
              </a:rPr>
              <a:t>Base</a:t>
            </a:r>
            <a:r>
              <a:rPr dirty="0"/>
              <a:t> : SQLite ou MongoDB, mots de passe chiffrés.</a:t>
            </a:r>
          </a:p>
          <a:p>
            <a:r>
              <a:rPr dirty="0">
                <a:solidFill>
                  <a:srgbClr val="00B0F0"/>
                </a:solidFill>
              </a:rPr>
              <a:t>Performance</a:t>
            </a:r>
            <a:r>
              <a:rPr dirty="0"/>
              <a:t> : gérer 100 clients, 200 comptes, 1000 transactions.</a:t>
            </a:r>
          </a:p>
          <a:p>
            <a:r>
              <a:rPr dirty="0">
                <a:solidFill>
                  <a:srgbClr val="00B0F0"/>
                </a:solidFill>
              </a:rPr>
              <a:t>Sécurité</a:t>
            </a:r>
            <a:r>
              <a:rPr dirty="0"/>
              <a:t> : authentification robuste, journalisation.</a:t>
            </a:r>
          </a:p>
        </p:txBody>
      </p:sp>
    </p:spTree>
  </p:cSld>
  <p:clrMapOvr>
    <a:masterClrMapping/>
  </p:clrMapOvr>
  <p:transition spd="slow">
    <p:randomBar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solidFill>
                  <a:srgbClr val="00B0F0"/>
                </a:solidFill>
              </a:rPr>
              <a:t>Modélisation des Données </a:t>
            </a:r>
            <a:r>
              <a:rPr lang="fr-FR" dirty="0" smtClean="0">
                <a:solidFill>
                  <a:srgbClr val="00B0F0"/>
                </a:solidFill>
              </a:rPr>
              <a:t>					</a:t>
            </a:r>
            <a:r>
              <a:rPr dirty="0" smtClean="0">
                <a:solidFill>
                  <a:srgbClr val="00B0F0"/>
                </a:solidFill>
              </a:rPr>
              <a:t>(</a:t>
            </a:r>
            <a:r>
              <a:rPr dirty="0">
                <a:solidFill>
                  <a:srgbClr val="00B0F0"/>
                </a:solidFill>
              </a:rPr>
              <a:t>MERISE)</a:t>
            </a:r>
          </a:p>
        </p:txBody>
      </p:sp>
      <p:sp>
        <p:nvSpPr>
          <p:cNvPr id="3" name="Content Placeholder 2"/>
          <p:cNvSpPr>
            <a:spLocks noGrp="1"/>
          </p:cNvSpPr>
          <p:nvPr>
            <p:ph idx="1"/>
          </p:nvPr>
        </p:nvSpPr>
        <p:spPr/>
        <p:txBody>
          <a:bodyPr/>
          <a:lstStyle/>
          <a:p>
            <a:endParaRPr dirty="0"/>
          </a:p>
          <a:p>
            <a:r>
              <a:rPr dirty="0">
                <a:solidFill>
                  <a:srgbClr val="00B0F0"/>
                </a:solidFill>
              </a:rPr>
              <a:t>Entités</a:t>
            </a:r>
            <a:r>
              <a:rPr dirty="0"/>
              <a:t> : CLIENT, AGENCE, COMPTE, OPÉRATION, UTILISATEUR.</a:t>
            </a:r>
          </a:p>
          <a:p>
            <a:r>
              <a:rPr dirty="0">
                <a:solidFill>
                  <a:srgbClr val="00B0F0"/>
                </a:solidFill>
              </a:rPr>
              <a:t>Relations</a:t>
            </a:r>
            <a:r>
              <a:rPr dirty="0"/>
              <a:t> : CLIENT possède COMPTE, COMPTE subit OPÉRATION.</a:t>
            </a:r>
          </a:p>
          <a:p>
            <a:r>
              <a:rPr dirty="0"/>
              <a:t>MCD, MLD, MPD bien définis.</a:t>
            </a:r>
          </a:p>
        </p:txBody>
      </p:sp>
    </p:spTree>
  </p:cSld>
  <p:clrMapOvr>
    <a:masterClrMapping/>
  </p:clrMapOvr>
  <p:transition spd="slow">
    <p:randomBa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B0F0"/>
                </a:solidFill>
              </a:rPr>
              <a:t>Architecture du Projet</a:t>
            </a:r>
          </a:p>
        </p:txBody>
      </p:sp>
      <p:sp>
        <p:nvSpPr>
          <p:cNvPr id="3" name="Content Placeholder 2"/>
          <p:cNvSpPr>
            <a:spLocks noGrp="1"/>
          </p:cNvSpPr>
          <p:nvPr>
            <p:ph idx="1"/>
          </p:nvPr>
        </p:nvSpPr>
        <p:spPr/>
        <p:txBody>
          <a:bodyPr/>
          <a:lstStyle/>
          <a:p>
            <a:endParaRPr dirty="0"/>
          </a:p>
          <a:p>
            <a:r>
              <a:rPr dirty="0">
                <a:solidFill>
                  <a:srgbClr val="00B0F0"/>
                </a:solidFill>
              </a:rPr>
              <a:t>Présentation</a:t>
            </a:r>
            <a:r>
              <a:rPr dirty="0"/>
              <a:t> : Console &amp; WinForms.</a:t>
            </a:r>
          </a:p>
          <a:p>
            <a:r>
              <a:rPr dirty="0">
                <a:solidFill>
                  <a:srgbClr val="00B0F0"/>
                </a:solidFill>
              </a:rPr>
              <a:t>Métier</a:t>
            </a:r>
            <a:r>
              <a:rPr dirty="0"/>
              <a:t> : Classes C#.</a:t>
            </a:r>
          </a:p>
          <a:p>
            <a:r>
              <a:rPr dirty="0">
                <a:solidFill>
                  <a:srgbClr val="00B0F0"/>
                </a:solidFill>
              </a:rPr>
              <a:t>Données</a:t>
            </a:r>
            <a:r>
              <a:rPr dirty="0"/>
              <a:t> : ADO.NET / EF + SQL Server.</a:t>
            </a:r>
          </a:p>
          <a:p>
            <a:r>
              <a:rPr dirty="0">
                <a:solidFill>
                  <a:srgbClr val="00B0F0"/>
                </a:solidFill>
              </a:rPr>
              <a:t>Organisation en modules </a:t>
            </a:r>
            <a:r>
              <a:rPr dirty="0"/>
              <a:t>: Console, GUI, DB.</a:t>
            </a:r>
          </a:p>
        </p:txBody>
      </p:sp>
    </p:spTree>
  </p:cSld>
  <p:clrMapOvr>
    <a:masterClrMapping/>
  </p:clrMapOvr>
  <p:transition spd="slow">
    <p:randomBar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B0F0"/>
                </a:solidFill>
              </a:rPr>
              <a:t>Étapes</a:t>
            </a:r>
            <a:r>
              <a:rPr dirty="0"/>
              <a:t> </a:t>
            </a:r>
            <a:r>
              <a:rPr dirty="0">
                <a:solidFill>
                  <a:srgbClr val="00B0F0"/>
                </a:solidFill>
              </a:rPr>
              <a:t>de Conception</a:t>
            </a:r>
          </a:p>
        </p:txBody>
      </p:sp>
      <p:sp>
        <p:nvSpPr>
          <p:cNvPr id="3" name="Content Placeholder 2"/>
          <p:cNvSpPr>
            <a:spLocks noGrp="1"/>
          </p:cNvSpPr>
          <p:nvPr>
            <p:ph idx="1"/>
          </p:nvPr>
        </p:nvSpPr>
        <p:spPr/>
        <p:txBody>
          <a:bodyPr/>
          <a:lstStyle/>
          <a:p>
            <a:endParaRPr dirty="0"/>
          </a:p>
          <a:p>
            <a:r>
              <a:rPr dirty="0"/>
              <a:t>Analyse des besoins, conception BD.</a:t>
            </a:r>
          </a:p>
          <a:p>
            <a:r>
              <a:rPr dirty="0"/>
              <a:t>Développement Console et Interface Graphique.</a:t>
            </a:r>
          </a:p>
          <a:p>
            <a:r>
              <a:rPr dirty="0"/>
              <a:t>Connexion BD sécurisée.</a:t>
            </a:r>
          </a:p>
          <a:p>
            <a:r>
              <a:rPr dirty="0"/>
              <a:t>Gestion utilisateurs, export/impression.</a:t>
            </a:r>
          </a:p>
          <a:p>
            <a:r>
              <a:rPr dirty="0"/>
              <a:t>Tests unitaires, fonctionnels, sécurité.</a:t>
            </a:r>
          </a:p>
        </p:txBody>
      </p:sp>
    </p:spTree>
  </p:cSld>
  <p:clrMapOvr>
    <a:masterClrMapping/>
  </p:clrMapOvr>
  <p:transition spd="slow">
    <p:randomBar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solidFill>
                  <a:srgbClr val="00B0F0"/>
                </a:solidFill>
              </a:rPr>
              <a:t>	</a:t>
            </a:r>
            <a:r>
              <a:rPr dirty="0" smtClean="0">
                <a:solidFill>
                  <a:srgbClr val="00B0F0"/>
                </a:solidFill>
              </a:rPr>
              <a:t>Technologies </a:t>
            </a:r>
            <a:r>
              <a:rPr dirty="0">
                <a:solidFill>
                  <a:srgbClr val="00B0F0"/>
                </a:solidFill>
              </a:rPr>
              <a:t>Utilisées</a:t>
            </a:r>
          </a:p>
        </p:txBody>
      </p:sp>
      <p:sp>
        <p:nvSpPr>
          <p:cNvPr id="3" name="Content Placeholder 2"/>
          <p:cNvSpPr>
            <a:spLocks noGrp="1"/>
          </p:cNvSpPr>
          <p:nvPr>
            <p:ph idx="1"/>
          </p:nvPr>
        </p:nvSpPr>
        <p:spPr/>
        <p:txBody>
          <a:bodyPr/>
          <a:lstStyle/>
          <a:p>
            <a:endParaRPr dirty="0"/>
          </a:p>
          <a:p>
            <a:r>
              <a:rPr dirty="0"/>
              <a:t>Langage : C# .NET.</a:t>
            </a:r>
          </a:p>
          <a:p>
            <a:r>
              <a:rPr dirty="0"/>
              <a:t>IDE : Visual Studio.</a:t>
            </a:r>
          </a:p>
          <a:p>
            <a:r>
              <a:rPr dirty="0"/>
              <a:t>BD : SQL Server.</a:t>
            </a:r>
          </a:p>
          <a:p>
            <a:r>
              <a:rPr dirty="0"/>
              <a:t>Outils : MERISE, Draw.io, ADO.NET, PDFSharp.</a:t>
            </a:r>
          </a:p>
        </p:txBody>
      </p:sp>
    </p:spTree>
  </p:cSld>
  <p:clrMapOvr>
    <a:masterClrMapping/>
  </p:clrMapOvr>
  <p:transition spd="slow">
    <p:randomBar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B0F0"/>
                </a:solidFill>
              </a:rPr>
              <a:t>Innovations Proposées</a:t>
            </a:r>
          </a:p>
        </p:txBody>
      </p:sp>
      <p:sp>
        <p:nvSpPr>
          <p:cNvPr id="3" name="Content Placeholder 2"/>
          <p:cNvSpPr>
            <a:spLocks noGrp="1"/>
          </p:cNvSpPr>
          <p:nvPr>
            <p:ph idx="1"/>
          </p:nvPr>
        </p:nvSpPr>
        <p:spPr/>
        <p:txBody>
          <a:bodyPr/>
          <a:lstStyle/>
          <a:p>
            <a:endParaRPr dirty="0"/>
          </a:p>
          <a:p>
            <a:r>
              <a:rPr dirty="0"/>
              <a:t>Historique avec filtres, tableaux de bord.</a:t>
            </a:r>
          </a:p>
          <a:p>
            <a:r>
              <a:rPr dirty="0"/>
              <a:t>Interface multilingue, notifications.</a:t>
            </a:r>
          </a:p>
          <a:p>
            <a:r>
              <a:rPr dirty="0"/>
              <a:t>Rapports PDF, tutoriels vidéos.</a:t>
            </a:r>
          </a:p>
        </p:txBody>
      </p:sp>
    </p:spTree>
  </p:cSld>
  <p:clrMapOvr>
    <a:masterClrMapping/>
  </p:clrMapOvr>
  <p:transition spd="slow">
    <p:randomBar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solidFill>
                  <a:srgbClr val="00B0F0"/>
                </a:solidFill>
              </a:rPr>
              <a:t>		</a:t>
            </a:r>
            <a:r>
              <a:rPr dirty="0" smtClean="0">
                <a:solidFill>
                  <a:srgbClr val="00B0F0"/>
                </a:solidFill>
              </a:rPr>
              <a:t>Conclusion</a:t>
            </a:r>
            <a:endParaRPr dirty="0">
              <a:solidFill>
                <a:srgbClr val="00B0F0"/>
              </a:solidFill>
            </a:endParaRPr>
          </a:p>
        </p:txBody>
      </p:sp>
      <p:sp>
        <p:nvSpPr>
          <p:cNvPr id="3" name="Content Placeholder 2"/>
          <p:cNvSpPr>
            <a:spLocks noGrp="1"/>
          </p:cNvSpPr>
          <p:nvPr>
            <p:ph idx="1"/>
          </p:nvPr>
        </p:nvSpPr>
        <p:spPr/>
        <p:txBody>
          <a:bodyPr/>
          <a:lstStyle/>
          <a:p>
            <a:r>
              <a:rPr dirty="0"/>
              <a:t>Projet complet illustrant la modélisation, POO, base de données et interfaces. Expérience enrichissante et professionnalisante.</a:t>
            </a:r>
          </a:p>
        </p:txBody>
      </p:sp>
    </p:spTree>
  </p:cSld>
  <p:clrMapOvr>
    <a:masterClrMapping/>
  </p:clrMapOvr>
  <p:transition spd="slow">
    <p:randomBar dir="vert"/>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112</TotalTime>
  <Words>467</Words>
  <Application>Microsoft Office PowerPoint</Application>
  <PresentationFormat>Affichage à l'écran (4:3)</PresentationFormat>
  <Paragraphs>86</Paragraphs>
  <Slides>14</Slides>
  <Notes>0</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14</vt:i4>
      </vt:variant>
    </vt:vector>
  </HeadingPairs>
  <TitlesOfParts>
    <vt:vector size="27" baseType="lpstr">
      <vt:lpstr>Agency FB</vt:lpstr>
      <vt:lpstr>Algerian</vt:lpstr>
      <vt:lpstr>Arial</vt:lpstr>
      <vt:lpstr>Arial Black</vt:lpstr>
      <vt:lpstr>Baskerville Old Face</vt:lpstr>
      <vt:lpstr>Calibri</vt:lpstr>
      <vt:lpstr>Century Gothic</vt:lpstr>
      <vt:lpstr>Consolas</vt:lpstr>
      <vt:lpstr>Nirmala UI Semilight</vt:lpstr>
      <vt:lpstr>Symbol</vt:lpstr>
      <vt:lpstr>Times New Roman</vt:lpstr>
      <vt:lpstr>Wingdings 3</vt:lpstr>
      <vt:lpstr>Ion</vt:lpstr>
      <vt:lpstr>Présentation PowerPoint</vt:lpstr>
      <vt:lpstr>Présentation PowerPoint</vt:lpstr>
      <vt:lpstr>Présentation PowerPoint</vt:lpstr>
      <vt:lpstr>Présentation PowerPoint</vt:lpstr>
      <vt:lpstr>Objectifs du Projet</vt:lpstr>
      <vt:lpstr>  Contexte</vt:lpstr>
      <vt:lpstr>Fonctionnalités Principales</vt:lpstr>
      <vt:lpstr>Exigences Non Fonctionnelles</vt:lpstr>
      <vt:lpstr>Modélisation des Données      (MERISE)</vt:lpstr>
      <vt:lpstr>Architecture du Projet</vt:lpstr>
      <vt:lpstr>Étapes de Conception</vt:lpstr>
      <vt:lpstr> Technologies Utilisées</vt:lpstr>
      <vt:lpstr>Innovations Proposées</vt:lpstr>
      <vt:lpstr>  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Ibrahima Talibé Diallo</cp:lastModifiedBy>
  <cp:revision>10</cp:revision>
  <dcterms:created xsi:type="dcterms:W3CDTF">2013-01-27T09:14:16Z</dcterms:created>
  <dcterms:modified xsi:type="dcterms:W3CDTF">2025-06-19T18:32:03Z</dcterms:modified>
  <cp:category/>
</cp:coreProperties>
</file>