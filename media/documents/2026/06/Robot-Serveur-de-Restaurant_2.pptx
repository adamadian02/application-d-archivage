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Libre Baskerville"/>
      <p:regular r:id="rId17"/>
    </p:embeddedFont>
    <p:embeddedFont>
      <p:font typeface="Libre Baskerville"/>
      <p:regular r:id="rId18"/>
    </p:embeddedFont>
    <p:embeddedFont>
      <p:font typeface="Libre Baskerville"/>
      <p:regular r:id="rId19"/>
    </p:embeddedFont>
    <p:embeddedFont>
      <p:font typeface="Libre Baskerville"/>
      <p:regular r:id="rId20"/>
    </p:embeddedFont>
    <p:embeddedFont>
      <p:font typeface="Open Sans"/>
      <p:regular r:id="rId21"/>
    </p:embeddedFont>
    <p:embeddedFont>
      <p:font typeface="Open Sans"/>
      <p:regular r:id="rId22"/>
    </p:embeddedFont>
    <p:embeddedFont>
      <p:font typeface="Open Sans"/>
      <p:regular r:id="rId23"/>
    </p:embeddedFont>
    <p:embeddedFont>
      <p:font typeface="Open Sans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6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9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slideLayout" Target="../slideLayouts/slideLayout10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56401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Robot Serveur de Restaurant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32173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Conception d'un système automatisé pour la restauration moderne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4939784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Université Gamal Abdel Nasser de Conakry — Faculté Centre Informatique, Département NTIC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0315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Contexte et Problématique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387685"/>
            <a:ext cx="350150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Transformation Numérique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4323159"/>
            <a:ext cx="350150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 robotique de service transforme la restauration en automatisant le transport des plats et en améliorant l'expérience client.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4856321" y="338768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Défis Actuels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856321" y="3968829"/>
            <a:ext cx="3501509" cy="277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Lenteur du service en heures de pointe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Charge physique excessive du personnel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Erreurs de livraison aux tables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Coûts salariaux élevés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9629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Objectifs du Projet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58697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01</a:t>
            </a:r>
            <a:endParaRPr lang="en-US" sz="1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313742"/>
            <a:ext cx="6407944" cy="3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24880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Châssis Mobile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2978468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Concevoir un robot à 4 roues suivant une ligne noire au sol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428548" y="1958697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02</a:t>
            </a:r>
            <a:endParaRPr lang="en-US" sz="17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8548" y="2313742"/>
            <a:ext cx="6408063" cy="30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28548" y="2488049"/>
            <a:ext cx="391846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Communication Bluetooth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7428548" y="2978468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Intégrer HC-08 BLE pour recevoir le numéro de table cible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793790" y="3738205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03</a:t>
            </a:r>
            <a:endParaRPr lang="en-US" sz="17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070509"/>
            <a:ext cx="6407944" cy="30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93790" y="4267557"/>
            <a:ext cx="291846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Algorithme de Suivi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793790" y="4757976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Programmer le comptage des tables par marqueurs transversaux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7428548" y="3738205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04</a:t>
            </a:r>
            <a:endParaRPr lang="en-US" sz="17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8548" y="4093250"/>
            <a:ext cx="6408063" cy="30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428548" y="42675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Sécurité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7428548" y="4757976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Implanter la détection d'obstacles avec HC-SR04</a:t>
            </a:r>
            <a:endParaRPr lang="en-US" sz="1750" dirty="0"/>
          </a:p>
        </p:txBody>
      </p:sp>
      <p:sp>
        <p:nvSpPr>
          <p:cNvPr id="19" name="Text 13"/>
          <p:cNvSpPr/>
          <p:nvPr/>
        </p:nvSpPr>
        <p:spPr>
          <a:xfrm>
            <a:off x="793790" y="5880616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05</a:t>
            </a:r>
            <a:endParaRPr lang="en-US" sz="17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6190298"/>
            <a:ext cx="6407944" cy="304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93790" y="6409968"/>
            <a:ext cx="296322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Retour Automatique</a:t>
            </a:r>
            <a:endParaRPr lang="en-US" sz="2200" dirty="0"/>
          </a:p>
        </p:txBody>
      </p:sp>
      <p:sp>
        <p:nvSpPr>
          <p:cNvPr id="22" name="Text 15"/>
          <p:cNvSpPr/>
          <p:nvPr/>
        </p:nvSpPr>
        <p:spPr>
          <a:xfrm>
            <a:off x="793790" y="6900386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Assurer le retour à la cuisine après chaque livraison</a:t>
            </a:r>
            <a:endParaRPr lang="en-US" sz="1750" dirty="0"/>
          </a:p>
        </p:txBody>
      </p:sp>
      <p:sp>
        <p:nvSpPr>
          <p:cNvPr id="23" name="Text 16"/>
          <p:cNvSpPr/>
          <p:nvPr/>
        </p:nvSpPr>
        <p:spPr>
          <a:xfrm>
            <a:off x="7428548" y="5880616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06</a:t>
            </a:r>
            <a:endParaRPr lang="en-US" sz="175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8548" y="6190298"/>
            <a:ext cx="6408063" cy="3048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428548" y="64099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Application Mobile</a:t>
            </a:r>
            <a:endParaRPr lang="en-US" sz="2200" dirty="0"/>
          </a:p>
        </p:txBody>
      </p:sp>
      <p:sp>
        <p:nvSpPr>
          <p:cNvPr id="26" name="Text 18"/>
          <p:cNvSpPr/>
          <p:nvPr/>
        </p:nvSpPr>
        <p:spPr>
          <a:xfrm>
            <a:off x="7428548" y="6900386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Développer l'interface de pilotage avec App Inventor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4260" y="642461"/>
            <a:ext cx="6695361" cy="664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1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Architecture du Système</a:t>
            </a:r>
            <a:endParaRPr lang="en-US" sz="4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4260" y="1705570"/>
            <a:ext cx="6570940" cy="85058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6905" y="2755463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Communication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956905" y="3207306"/>
            <a:ext cx="6145649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HC-08 BLE reçoit commandes</a:t>
            </a:r>
            <a:endParaRPr lang="en-US" sz="16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705570"/>
            <a:ext cx="6570940" cy="85058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27846" y="2755463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Traitement</a:t>
            </a:r>
            <a:endParaRPr lang="en-US" sz="2050" dirty="0"/>
          </a:p>
        </p:txBody>
      </p:sp>
      <p:sp>
        <p:nvSpPr>
          <p:cNvPr id="8" name="Text 4"/>
          <p:cNvSpPr/>
          <p:nvPr/>
        </p:nvSpPr>
        <p:spPr>
          <a:xfrm>
            <a:off x="7527846" y="3207306"/>
            <a:ext cx="6145649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Arduino Uno machine à états</a:t>
            </a:r>
            <a:endParaRPr lang="en-US" sz="16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260" y="3749516"/>
            <a:ext cx="6570940" cy="85058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56905" y="4799409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Perception</a:t>
            </a:r>
            <a:endParaRPr lang="en-US" sz="2050" dirty="0"/>
          </a:p>
        </p:txBody>
      </p:sp>
      <p:sp>
        <p:nvSpPr>
          <p:cNvPr id="11" name="Text 6"/>
          <p:cNvSpPr/>
          <p:nvPr/>
        </p:nvSpPr>
        <p:spPr>
          <a:xfrm>
            <a:off x="956905" y="5251252"/>
            <a:ext cx="6145649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IR + ultrason détectent</a:t>
            </a:r>
            <a:endParaRPr lang="en-US" sz="16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3749516"/>
            <a:ext cx="6570940" cy="85058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527846" y="4799409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Action</a:t>
            </a:r>
            <a:endParaRPr lang="en-US" sz="2050" dirty="0"/>
          </a:p>
        </p:txBody>
      </p:sp>
      <p:sp>
        <p:nvSpPr>
          <p:cNvPr id="14" name="Text 8"/>
          <p:cNvSpPr/>
          <p:nvPr/>
        </p:nvSpPr>
        <p:spPr>
          <a:xfrm>
            <a:off x="7527846" y="5251252"/>
            <a:ext cx="6145649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Moteurs DC déplacent</a:t>
            </a:r>
            <a:endParaRPr lang="en-US" sz="1650" dirty="0"/>
          </a:p>
        </p:txBody>
      </p:sp>
      <p:sp>
        <p:nvSpPr>
          <p:cNvPr id="15" name="Text 9"/>
          <p:cNvSpPr/>
          <p:nvPr/>
        </p:nvSpPr>
        <p:spPr>
          <a:xfrm>
            <a:off x="744260" y="6216968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Machine à États</a:t>
            </a:r>
            <a:endParaRPr lang="en-US" sz="2050" dirty="0"/>
          </a:p>
        </p:txBody>
      </p:sp>
      <p:sp>
        <p:nvSpPr>
          <p:cNvPr id="16" name="Text 10"/>
          <p:cNvSpPr/>
          <p:nvPr/>
        </p:nvSpPr>
        <p:spPr>
          <a:xfrm>
            <a:off x="744260" y="6748582"/>
            <a:ext cx="6311622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 états : ATTENTE, EN_ROUTE, LIVRAISON, RETOUR, OBSTACLE_STOP</a:t>
            </a:r>
            <a:endParaRPr lang="en-US" sz="1650" dirty="0"/>
          </a:p>
        </p:txBody>
      </p:sp>
      <p:sp>
        <p:nvSpPr>
          <p:cNvPr id="17" name="Text 11"/>
          <p:cNvSpPr/>
          <p:nvPr/>
        </p:nvSpPr>
        <p:spPr>
          <a:xfrm>
            <a:off x="7582138" y="6216968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Alimentation</a:t>
            </a:r>
            <a:endParaRPr lang="en-US" sz="2050" dirty="0"/>
          </a:p>
        </p:txBody>
      </p:sp>
      <p:sp>
        <p:nvSpPr>
          <p:cNvPr id="18" name="Text 12"/>
          <p:cNvSpPr/>
          <p:nvPr/>
        </p:nvSpPr>
        <p:spPr>
          <a:xfrm>
            <a:off x="7582138" y="6748582"/>
            <a:ext cx="6311622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Batterie 7.4V à 12V, 2-4 heures d'autonomie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4628" y="584954"/>
            <a:ext cx="5372100" cy="586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6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Composants Matériels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628" y="1483043"/>
            <a:ext cx="1794748" cy="17947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4628" y="3472220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Arduino Uno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34628" y="3858935"/>
            <a:ext cx="3094434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ATmega328P à 16 MHz, 32 Ko Flash, 2 Ko RAM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3492" y="1483043"/>
            <a:ext cx="1794748" cy="17947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23492" y="3472220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HC-08 BLE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4123492" y="3858935"/>
            <a:ext cx="3094434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Bluetooth Low Energy, 115200 baud, portée 10 m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2355" y="1483043"/>
            <a:ext cx="1794748" cy="179474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12355" y="3472220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Capteur IR 3 Voies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7412355" y="3858935"/>
            <a:ext cx="3094434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Suivi de ligne avec 3 capteurs calibrables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1218" y="1483043"/>
            <a:ext cx="1794748" cy="179474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701218" y="3472220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HC-SR04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10701218" y="3858935"/>
            <a:ext cx="3094434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Portée 2-400 cm, précision 3 mm, seuil 20 cm</a:t>
            </a:r>
            <a:endParaRPr lang="en-US" sz="14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628" y="4719399"/>
            <a:ext cx="1794748" cy="179474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34628" y="6708577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Driver L298N</a:t>
            </a:r>
            <a:endParaRPr lang="en-US" sz="1800" dirty="0"/>
          </a:p>
        </p:txBody>
      </p:sp>
      <p:sp>
        <p:nvSpPr>
          <p:cNvPr id="17" name="Text 10"/>
          <p:cNvSpPr/>
          <p:nvPr/>
        </p:nvSpPr>
        <p:spPr>
          <a:xfrm>
            <a:off x="834628" y="7095292"/>
            <a:ext cx="3094434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Contrôle 4 moteurs DC avec PWM</a:t>
            </a:r>
            <a:endParaRPr lang="en-US" sz="14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23492" y="4719399"/>
            <a:ext cx="1794748" cy="179474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123492" y="6708577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Kit AD118</a:t>
            </a:r>
            <a:endParaRPr lang="en-US" sz="1800" dirty="0"/>
          </a:p>
        </p:txBody>
      </p:sp>
      <p:sp>
        <p:nvSpPr>
          <p:cNvPr id="20" name="Text 12"/>
          <p:cNvSpPr/>
          <p:nvPr/>
        </p:nvSpPr>
        <p:spPr>
          <a:xfrm>
            <a:off x="4123492" y="7095292"/>
            <a:ext cx="3094434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Châssis 4 roues avec moteurs intégrés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55821"/>
            <a:ext cx="853297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Algorithme de Suivi de Ligne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018228"/>
            <a:ext cx="6407944" cy="1306949"/>
          </a:xfrm>
          <a:prstGeom prst="roundRect">
            <a:avLst>
              <a:gd name="adj" fmla="val 2603"/>
            </a:avLst>
          </a:prstGeom>
          <a:solidFill>
            <a:srgbClr val="EAE8F3"/>
          </a:solidFill>
          <a:ln/>
        </p:spPr>
      </p:sp>
      <p:sp>
        <p:nvSpPr>
          <p:cNvPr id="4" name="Text 2"/>
          <p:cNvSpPr/>
          <p:nvPr/>
        </p:nvSpPr>
        <p:spPr>
          <a:xfrm>
            <a:off x="1020604" y="22450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Centré (010)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2735461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Avancer tout droit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28548" y="2018228"/>
            <a:ext cx="6408063" cy="1306949"/>
          </a:xfrm>
          <a:prstGeom prst="roundRect">
            <a:avLst>
              <a:gd name="adj" fmla="val 2603"/>
            </a:avLst>
          </a:prstGeom>
          <a:solidFill>
            <a:srgbClr val="EAE8F3"/>
          </a:solidFill>
          <a:ln/>
        </p:spPr>
      </p:sp>
      <p:sp>
        <p:nvSpPr>
          <p:cNvPr id="7" name="Text 5"/>
          <p:cNvSpPr/>
          <p:nvPr/>
        </p:nvSpPr>
        <p:spPr>
          <a:xfrm>
            <a:off x="7655362" y="22450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Gauche (110)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55362" y="2735461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Corriger à gauche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3551992"/>
            <a:ext cx="6407944" cy="1306949"/>
          </a:xfrm>
          <a:prstGeom prst="roundRect">
            <a:avLst>
              <a:gd name="adj" fmla="val 2603"/>
            </a:avLst>
          </a:prstGeom>
          <a:solidFill>
            <a:srgbClr val="EAE8F3"/>
          </a:solidFill>
          <a:ln/>
        </p:spPr>
      </p:sp>
      <p:sp>
        <p:nvSpPr>
          <p:cNvPr id="10" name="Text 8"/>
          <p:cNvSpPr/>
          <p:nvPr/>
        </p:nvSpPr>
        <p:spPr>
          <a:xfrm>
            <a:off x="1020604" y="37788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Très Gauche (100)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20604" y="4269224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Virage fort gauche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428548" y="3551992"/>
            <a:ext cx="6408063" cy="1306949"/>
          </a:xfrm>
          <a:prstGeom prst="roundRect">
            <a:avLst>
              <a:gd name="adj" fmla="val 2603"/>
            </a:avLst>
          </a:prstGeom>
          <a:solidFill>
            <a:srgbClr val="EAE8F3"/>
          </a:solidFill>
          <a:ln/>
        </p:spPr>
      </p:sp>
      <p:sp>
        <p:nvSpPr>
          <p:cNvPr id="13" name="Text 11"/>
          <p:cNvSpPr/>
          <p:nvPr/>
        </p:nvSpPr>
        <p:spPr>
          <a:xfrm>
            <a:off x="7655362" y="37788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Droite (011)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55362" y="4269224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Corriger à droite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93790" y="5085755"/>
            <a:ext cx="6407944" cy="1306949"/>
          </a:xfrm>
          <a:prstGeom prst="roundRect">
            <a:avLst>
              <a:gd name="adj" fmla="val 2603"/>
            </a:avLst>
          </a:prstGeom>
          <a:solidFill>
            <a:srgbClr val="EAE8F3"/>
          </a:solidFill>
          <a:ln/>
        </p:spPr>
      </p:sp>
      <p:sp>
        <p:nvSpPr>
          <p:cNvPr id="16" name="Text 14"/>
          <p:cNvSpPr/>
          <p:nvPr/>
        </p:nvSpPr>
        <p:spPr>
          <a:xfrm>
            <a:off x="1020604" y="53125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Très Droite (001)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20604" y="5802987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Virage fort droite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7428548" y="5085755"/>
            <a:ext cx="6408063" cy="1306949"/>
          </a:xfrm>
          <a:prstGeom prst="roundRect">
            <a:avLst>
              <a:gd name="adj" fmla="val 2603"/>
            </a:avLst>
          </a:prstGeom>
          <a:solidFill>
            <a:srgbClr val="EAE8F3"/>
          </a:solidFill>
          <a:ln/>
        </p:spPr>
      </p:sp>
      <p:sp>
        <p:nvSpPr>
          <p:cNvPr id="19" name="Text 17"/>
          <p:cNvSpPr/>
          <p:nvPr/>
        </p:nvSpPr>
        <p:spPr>
          <a:xfrm>
            <a:off x="7655362" y="53125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Marque (111)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655362" y="5802987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Incrémenter compteur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793790" y="664785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 robot lit les 3 capteurs IR en continu et ajuste sa trajectoire plusieurs fois par seconde pour suivre la ligne noire de 2-3 cm.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6905" y="558641"/>
            <a:ext cx="6072902" cy="575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Commande et Navigation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56905" y="2097286"/>
            <a:ext cx="3184208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Communication Bluetooth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56905" y="2553533"/>
            <a:ext cx="7449979" cy="2325052"/>
          </a:xfrm>
          <a:prstGeom prst="roundRect">
            <a:avLst>
              <a:gd name="adj" fmla="val 118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4525" y="2561153"/>
            <a:ext cx="7434739" cy="46196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148715" y="2658547"/>
            <a:ext cx="3345180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Commande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869894" y="2658547"/>
            <a:ext cx="3345180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Effet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964525" y="3023116"/>
            <a:ext cx="7434739" cy="46196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148715" y="3120509"/>
            <a:ext cx="3345180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1-9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869894" y="3120509"/>
            <a:ext cx="3345180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Numéro de table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964525" y="3485078"/>
            <a:ext cx="7434739" cy="46196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148715" y="3582472"/>
            <a:ext cx="3345180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869894" y="3582472"/>
            <a:ext cx="3345180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Confirmation récupération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964525" y="3947041"/>
            <a:ext cx="7434739" cy="46196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148715" y="4044434"/>
            <a:ext cx="3345180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869894" y="4044434"/>
            <a:ext cx="3345180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Arrêt urgence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964525" y="4409003"/>
            <a:ext cx="7434739" cy="46196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148715" y="4506397"/>
            <a:ext cx="3345180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869894" y="4506397"/>
            <a:ext cx="3345180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Reprise après obstacle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956905" y="5046940"/>
            <a:ext cx="2563654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Scénario de Livraison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56905" y="5484495"/>
            <a:ext cx="7449979" cy="15454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Opérateur envoie numéro de table</a:t>
            </a:r>
            <a:endParaRPr lang="en-US" sz="1450" dirty="0"/>
          </a:p>
          <a:p>
            <a:pPr algn="l" marL="342900" indent="-342900">
              <a:lnSpc>
                <a:spcPts val="2100"/>
              </a:lnSpc>
              <a:buSzPct val="100000"/>
              <a:buFont typeface="+mj-lt"/>
              <a:buAutoNum type="arabicPeriod" startAt="2"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Robot suit la ligne en comptant</a:t>
            </a:r>
            <a:endParaRPr lang="en-US" sz="1450" dirty="0"/>
          </a:p>
          <a:p>
            <a:pPr algn="l" marL="342900" indent="-342900">
              <a:lnSpc>
                <a:spcPts val="2100"/>
              </a:lnSpc>
              <a:buSzPct val="100000"/>
              <a:buFont typeface="+mj-lt"/>
              <a:buAutoNum type="arabicPeriod" startAt="3"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Arrivée à la table cible</a:t>
            </a:r>
            <a:endParaRPr lang="en-US" sz="1450" dirty="0"/>
          </a:p>
          <a:p>
            <a:pPr algn="l" marL="342900" indent="-342900">
              <a:lnSpc>
                <a:spcPts val="2100"/>
              </a:lnSpc>
              <a:buSzPct val="100000"/>
              <a:buFont typeface="+mj-lt"/>
              <a:buAutoNum type="arabicPeriod" startAt="4"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Attente confirmation ou timeout 10s</a:t>
            </a:r>
            <a:endParaRPr lang="en-US" sz="1450" dirty="0"/>
          </a:p>
          <a:p>
            <a:pPr algn="l" marL="342900" indent="-342900">
              <a:lnSpc>
                <a:spcPts val="2100"/>
              </a:lnSpc>
              <a:buSzPct val="100000"/>
              <a:buFont typeface="+mj-lt"/>
              <a:buAutoNum type="arabicPeriod" startAt="5"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Rotation 180° et retour cuisine</a:t>
            </a:r>
            <a:endParaRPr lang="en-US" sz="145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4084" y="1527453"/>
            <a:ext cx="4816793" cy="59751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1056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Tests et Résultats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872972"/>
            <a:ext cx="6407944" cy="1730812"/>
          </a:xfrm>
          <a:prstGeom prst="roundRect">
            <a:avLst>
              <a:gd name="adj" fmla="val 8453"/>
            </a:avLst>
          </a:prstGeom>
          <a:solidFill>
            <a:srgbClr val="FBFAFF"/>
          </a:solidFill>
          <a:ln w="30480">
            <a:solidFill>
              <a:srgbClr val="D0CED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310" y="1872972"/>
            <a:ext cx="121920" cy="17308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2524" y="2130266"/>
            <a:ext cx="31043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Communication BLE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142524" y="2620685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Validation de la transmission bidirectionnelle dans un rayon de 8-10 m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428548" y="1872972"/>
            <a:ext cx="6408063" cy="1730812"/>
          </a:xfrm>
          <a:prstGeom prst="roundRect">
            <a:avLst>
              <a:gd name="adj" fmla="val 8453"/>
            </a:avLst>
          </a:prstGeom>
          <a:solidFill>
            <a:srgbClr val="FBFAFF"/>
          </a:solidFill>
          <a:ln w="30480">
            <a:solidFill>
              <a:srgbClr val="D0CED9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8067" y="1872972"/>
            <a:ext cx="121920" cy="17308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7282" y="21302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Moteurs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7777282" y="2620685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Test de chaque direction confirmant le contrôle précis des 4 moteurs DC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793790" y="3830598"/>
            <a:ext cx="6407944" cy="1730812"/>
          </a:xfrm>
          <a:prstGeom prst="roundRect">
            <a:avLst>
              <a:gd name="adj" fmla="val 8453"/>
            </a:avLst>
          </a:prstGeom>
          <a:solidFill>
            <a:srgbClr val="FBFAFF"/>
          </a:solidFill>
          <a:ln w="30480">
            <a:solidFill>
              <a:srgbClr val="D0CED9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10" y="3830598"/>
            <a:ext cx="121920" cy="17308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2524" y="40878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Suivi de Ligne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1142524" y="4578310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Parcours stable sur 2 m avec virages sans perte de la ligne</a:t>
            </a: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7428548" y="3830598"/>
            <a:ext cx="6408063" cy="1730812"/>
          </a:xfrm>
          <a:prstGeom prst="roundRect">
            <a:avLst>
              <a:gd name="adj" fmla="val 8453"/>
            </a:avLst>
          </a:prstGeom>
          <a:solidFill>
            <a:srgbClr val="FBFAFF"/>
          </a:solidFill>
          <a:ln w="30480">
            <a:solidFill>
              <a:srgbClr val="D0CED9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8067" y="3830598"/>
            <a:ext cx="121920" cy="173081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777282" y="40878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Obstacles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7777282" y="4578310"/>
            <a:ext cx="5802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Détection fiable à moins de 20 cm avec arrêt immédiat</a:t>
            </a:r>
            <a:endParaRPr lang="en-US" sz="1750" dirty="0"/>
          </a:p>
        </p:txBody>
      </p:sp>
      <p:sp>
        <p:nvSpPr>
          <p:cNvPr id="19" name="Shape 13"/>
          <p:cNvSpPr/>
          <p:nvPr/>
        </p:nvSpPr>
        <p:spPr>
          <a:xfrm>
            <a:off x="793790" y="5788223"/>
            <a:ext cx="6407944" cy="1730812"/>
          </a:xfrm>
          <a:prstGeom prst="roundRect">
            <a:avLst>
              <a:gd name="adj" fmla="val 8453"/>
            </a:avLst>
          </a:prstGeom>
          <a:solidFill>
            <a:srgbClr val="FBFAFF"/>
          </a:solidFill>
          <a:ln w="30480">
            <a:solidFill>
              <a:srgbClr val="D0CED9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310" y="5788223"/>
            <a:ext cx="121920" cy="173081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42524" y="60455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Comptage Tables</a:t>
            </a:r>
            <a:endParaRPr lang="en-US" sz="2200" dirty="0"/>
          </a:p>
        </p:txBody>
      </p:sp>
      <p:sp>
        <p:nvSpPr>
          <p:cNvPr id="22" name="Text 15"/>
          <p:cNvSpPr/>
          <p:nvPr/>
        </p:nvSpPr>
        <p:spPr>
          <a:xfrm>
            <a:off x="1142524" y="6535936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Arrêt précis aux marqueurs transversaux avec détection double cuisine</a:t>
            </a:r>
            <a:endParaRPr lang="en-US" sz="1750" dirty="0"/>
          </a:p>
        </p:txBody>
      </p:sp>
      <p:sp>
        <p:nvSpPr>
          <p:cNvPr id="23" name="Shape 16"/>
          <p:cNvSpPr/>
          <p:nvPr/>
        </p:nvSpPr>
        <p:spPr>
          <a:xfrm>
            <a:off x="7428548" y="5788223"/>
            <a:ext cx="6408063" cy="1730812"/>
          </a:xfrm>
          <a:prstGeom prst="roundRect">
            <a:avLst>
              <a:gd name="adj" fmla="val 8453"/>
            </a:avLst>
          </a:prstGeom>
          <a:solidFill>
            <a:srgbClr val="FBFAFF"/>
          </a:solidFill>
          <a:ln w="30480">
            <a:solidFill>
              <a:srgbClr val="D0CED9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8067" y="5788223"/>
            <a:ext cx="121920" cy="173081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777282" y="60455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Scénario Complet</a:t>
            </a:r>
            <a:endParaRPr lang="en-US" sz="2200" dirty="0"/>
          </a:p>
        </p:txBody>
      </p:sp>
      <p:sp>
        <p:nvSpPr>
          <p:cNvPr id="26" name="Text 18"/>
          <p:cNvSpPr/>
          <p:nvPr/>
        </p:nvSpPr>
        <p:spPr>
          <a:xfrm>
            <a:off x="7777282" y="6535936"/>
            <a:ext cx="5802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Cycle aller-livraison-retour fonctionnel sans incident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26569"/>
            <a:ext cx="688205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Améliorations Possibles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2288977"/>
            <a:ext cx="680442" cy="6804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Écran LCD/OLED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743325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Affichage en temps réel de l'état, table cible, batterie et distance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56884" y="2288977"/>
            <a:ext cx="680442" cy="68044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56884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Navigation IA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456884" y="3743325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Caméra + SLAM pour navigation libre sans lignes, nécessitant ESP32 ou Raspberry Pi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4922758"/>
            <a:ext cx="680442" cy="68044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93790" y="5886688"/>
            <a:ext cx="295703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Application Avancée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93790" y="6377107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Flutter/React Native avec plan interactif, suivi temps réel, historique et gestion multi-robots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56884" y="4922758"/>
            <a:ext cx="680442" cy="68044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56884" y="5886688"/>
            <a:ext cx="330529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Reconnaissance Vocale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456884" y="6377107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Module DFPlayer Mini pour annonces vocales des livraisons aux clients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8158" y="976670"/>
            <a:ext cx="5227558" cy="653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00"/>
              </a:lnSpc>
              <a:buNone/>
            </a:pPr>
            <a:r>
              <a:rPr lang="en-US" sz="41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Conclusion</a:t>
            </a:r>
            <a:endParaRPr lang="en-US" sz="4100" dirty="0"/>
          </a:p>
        </p:txBody>
      </p:sp>
      <p:sp>
        <p:nvSpPr>
          <p:cNvPr id="4" name="Text 1"/>
          <p:cNvSpPr/>
          <p:nvPr/>
        </p:nvSpPr>
        <p:spPr>
          <a:xfrm>
            <a:off x="6218158" y="2111931"/>
            <a:ext cx="2613779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Réalisations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6218158" y="2631281"/>
            <a:ext cx="3585210" cy="1285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Prototype fonctionnel basé sur le kit KUONGSHUN AD118 avec Arduino Uno, 4 moteurs DC, capteurs IR et ultrason, et module HC-08 BLE.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218158" y="4090154"/>
            <a:ext cx="3585210" cy="1285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Programme C/C++ structuré autour d'une machine à états à 5 états gérant le cycle complet de commande, suivi, livraison et retour.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321052" y="2111931"/>
            <a:ext cx="2613779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Perspectives</a:t>
            </a:r>
            <a:endParaRPr lang="en-US" sz="2050" dirty="0"/>
          </a:p>
        </p:txBody>
      </p:sp>
      <p:sp>
        <p:nvSpPr>
          <p:cNvPr id="8" name="Text 5"/>
          <p:cNvSpPr/>
          <p:nvPr/>
        </p:nvSpPr>
        <p:spPr>
          <a:xfrm>
            <a:off x="10321052" y="2631281"/>
            <a:ext cx="3585210" cy="964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Démonstration de la faisabilité d'un robot d'assistance en restauration avec des composants accessibles.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321052" y="3768804"/>
            <a:ext cx="3585210" cy="964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Potentiel de modernisation des restaurants en Guinée et en Afrique de l'Ouest.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218158" y="5765840"/>
            <a:ext cx="7680484" cy="1487091"/>
          </a:xfrm>
          <a:prstGeom prst="roundRect">
            <a:avLst>
              <a:gd name="adj" fmla="val 2109"/>
            </a:avLst>
          </a:prstGeom>
          <a:solidFill>
            <a:srgbClr val="B6FCB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7232" y="6080403"/>
            <a:ext cx="261342" cy="20907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97648" y="6010870"/>
            <a:ext cx="6791920" cy="964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Projet réalisé par le groupe Afrobots — Licence 3 NTIC, Université Gamal Abdel Nasser de Conakry, Année académique 2025-2026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2026-04-17T10:58:48Z</dcterms:created>
  <dcterms:modified xsi:type="dcterms:W3CDTF">2026-04-17T10:58:48Z</dcterms:modified>
</cp:coreProperties>
</file>